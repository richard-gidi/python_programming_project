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972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10" dirty="0"/>
              <a:t>Group</a:t>
            </a:r>
            <a:r>
              <a:rPr spc="105" dirty="0"/>
              <a:t> </a:t>
            </a:r>
            <a:r>
              <a:rPr spc="-25" dirty="0"/>
              <a:t>B11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spc="100" dirty="0"/>
              <a:t>/</a:t>
            </a:r>
            <a:r>
              <a:rPr spc="-5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58323" y="30466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78706" y="30427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D7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56508" y="30427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D7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505413" y="303637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42244" y="30427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D7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94670" y="3049079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705769" y="30427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D7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781970" y="30363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CCD7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045495" y="303637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969294" y="30427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D7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45495" y="307447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CCD7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309020" y="30363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603025" y="3066859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575961" y="304036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481104" y="303637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"/>
            <a:ext cx="5759996" cy="200418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32" y="163702"/>
            <a:ext cx="5760073" cy="68466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0" y="227495"/>
            <a:ext cx="5760085" cy="195580"/>
          </a:xfrm>
          <a:custGeom>
            <a:avLst/>
            <a:gdLst/>
            <a:ahLst/>
            <a:cxnLst/>
            <a:rect l="l" t="t" r="r" b="b"/>
            <a:pathLst>
              <a:path w="5760085" h="195579">
                <a:moveTo>
                  <a:pt x="5759996" y="0"/>
                </a:moveTo>
                <a:lnTo>
                  <a:pt x="0" y="0"/>
                </a:lnTo>
                <a:lnTo>
                  <a:pt x="0" y="195503"/>
                </a:lnTo>
                <a:lnTo>
                  <a:pt x="5759996" y="195503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8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10" dirty="0"/>
              <a:t>Group</a:t>
            </a:r>
            <a:r>
              <a:rPr spc="105" dirty="0"/>
              <a:t> </a:t>
            </a:r>
            <a:r>
              <a:rPr spc="-25" dirty="0"/>
              <a:t>B11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spc="100" dirty="0"/>
              <a:t>/</a:t>
            </a:r>
            <a:r>
              <a:rPr spc="-5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10" dirty="0"/>
              <a:t>Group</a:t>
            </a:r>
            <a:r>
              <a:rPr spc="105" dirty="0"/>
              <a:t> </a:t>
            </a:r>
            <a:r>
              <a:rPr spc="-25" dirty="0"/>
              <a:t>B11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spc="100" dirty="0"/>
              <a:t>/</a:t>
            </a:r>
            <a:r>
              <a:rPr spc="-5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10" dirty="0"/>
              <a:t>Group</a:t>
            </a:r>
            <a:r>
              <a:rPr spc="105" dirty="0"/>
              <a:t> </a:t>
            </a:r>
            <a:r>
              <a:rPr spc="-25" dirty="0"/>
              <a:t>B11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spc="100" dirty="0"/>
              <a:t>/</a:t>
            </a:r>
            <a:r>
              <a:rPr spc="-5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58323" y="30466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78706" y="30427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D7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56508" y="30427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D7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505413" y="303637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42244" y="30427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D7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94670" y="3049079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705769" y="30427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D7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781970" y="30363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CCD7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045495" y="303637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969294" y="30427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D7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45495" y="307447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CCD7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309020" y="30363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603025" y="3066859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575961" y="304036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481104" y="303637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"/>
            <a:ext cx="5759996" cy="200418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-32" y="198766"/>
            <a:ext cx="5760085" cy="33655"/>
          </a:xfrm>
          <a:custGeom>
            <a:avLst/>
            <a:gdLst/>
            <a:ahLst/>
            <a:cxnLst/>
            <a:rect l="l" t="t" r="r" b="b"/>
            <a:pathLst>
              <a:path w="5760085" h="33654">
                <a:moveTo>
                  <a:pt x="5760073" y="0"/>
                </a:moveTo>
                <a:lnTo>
                  <a:pt x="0" y="0"/>
                </a:lnTo>
                <a:lnTo>
                  <a:pt x="0" y="33402"/>
                </a:lnTo>
                <a:lnTo>
                  <a:pt x="5760073" y="33402"/>
                </a:lnTo>
                <a:lnTo>
                  <a:pt x="5760073" y="0"/>
                </a:lnTo>
                <a:close/>
              </a:path>
            </a:pathLst>
          </a:custGeom>
          <a:solidFill>
            <a:srgbClr val="001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10" dirty="0"/>
              <a:t>Group</a:t>
            </a:r>
            <a:r>
              <a:rPr spc="105" dirty="0"/>
              <a:t> </a:t>
            </a:r>
            <a:r>
              <a:rPr spc="-25" dirty="0"/>
              <a:t>B11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spc="100" dirty="0"/>
              <a:t>/</a:t>
            </a:r>
            <a:r>
              <a:rPr spc="-5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58323" y="30466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78706" y="30427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D7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56508" y="30427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D7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505413" y="303637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42244" y="30427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D7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94670" y="3049079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705769" y="30427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D7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781970" y="30363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CCD7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045495" y="303637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969294" y="30427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D7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45495" y="307447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CCD7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309020" y="30363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603025" y="3066859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575961" y="304036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481104" y="303637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A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5"/>
            <a:ext cx="5759996" cy="20041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215813"/>
            <a:ext cx="2772410" cy="193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05737" y="730529"/>
            <a:ext cx="3148965" cy="1896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90372" y="3131763"/>
            <a:ext cx="363219" cy="105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10" dirty="0"/>
              <a:t>Group</a:t>
            </a:r>
            <a:r>
              <a:rPr spc="105" dirty="0"/>
              <a:t> </a:t>
            </a:r>
            <a:r>
              <a:rPr spc="-25" dirty="0"/>
              <a:t>B11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17464" y="3131763"/>
            <a:ext cx="188595" cy="105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spc="100" dirty="0"/>
              <a:t>/</a:t>
            </a:r>
            <a:r>
              <a:rPr spc="-5" dirty="0"/>
              <a:t> </a:t>
            </a:r>
            <a:r>
              <a:rPr spc="-50" dirty="0"/>
              <a:t>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9994" y="388505"/>
            <a:ext cx="5039995" cy="479618"/>
          </a:xfrm>
          <a:prstGeom prst="rect">
            <a:avLst/>
          </a:prstGeom>
          <a:solidFill>
            <a:srgbClr val="003874"/>
          </a:solidFill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lang="en-US" sz="1300" spc="70" dirty="0">
                <a:solidFill>
                  <a:srgbClr val="FFFFFF"/>
                </a:solidFill>
                <a:latin typeface="Times New Roman"/>
                <a:cs typeface="Times New Roman"/>
              </a:rPr>
              <a:t>Global Analysis of Acute Food Insecurity</a:t>
            </a: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000" spc="-1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lang="en-US" sz="1000" spc="95" dirty="0">
                <a:solidFill>
                  <a:srgbClr val="FFFFFF"/>
                </a:solidFill>
                <a:latin typeface="Times New Roman"/>
                <a:cs typeface="Times New Roman"/>
              </a:rPr>
              <a:t>n In-depth </a:t>
            </a:r>
            <a:r>
              <a:rPr sz="1000" dirty="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r>
              <a:rPr sz="1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FFFFFF"/>
                </a:solidFill>
                <a:latin typeface="Times New Roman"/>
                <a:cs typeface="Times New Roman"/>
              </a:rPr>
              <a:t>IPC</a:t>
            </a:r>
            <a:r>
              <a:rPr sz="1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4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31911" y="1126163"/>
            <a:ext cx="1896745" cy="1159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26745">
              <a:lnSpc>
                <a:spcPct val="112900"/>
              </a:lnSpc>
              <a:spcBef>
                <a:spcPts val="100"/>
              </a:spcBef>
            </a:pPr>
            <a:r>
              <a:rPr sz="1000" spc="65" dirty="0">
                <a:latin typeface="Times New Roman"/>
                <a:cs typeface="Times New Roman"/>
              </a:rPr>
              <a:t>Group</a:t>
            </a:r>
            <a:r>
              <a:rPr sz="1000" spc="-25" dirty="0">
                <a:latin typeface="Times New Roman"/>
                <a:cs typeface="Times New Roman"/>
              </a:rPr>
              <a:t> B11 </a:t>
            </a:r>
            <a:r>
              <a:rPr sz="1000" spc="65" dirty="0">
                <a:latin typeface="Times New Roman"/>
                <a:cs typeface="Times New Roman"/>
              </a:rPr>
              <a:t>Programming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Data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Scientists</a:t>
            </a:r>
            <a:endParaRPr sz="1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142875" marR="114935" algn="ctr">
              <a:lnSpc>
                <a:spcPct val="112700"/>
              </a:lnSpc>
            </a:pPr>
            <a:r>
              <a:rPr sz="700" spc="45" dirty="0">
                <a:latin typeface="Times New Roman"/>
                <a:cs typeface="Times New Roman"/>
              </a:rPr>
              <a:t>Richard</a:t>
            </a:r>
            <a:r>
              <a:rPr sz="700" spc="3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Gidi</a:t>
            </a:r>
            <a:r>
              <a:rPr sz="700" spc="26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22424288</a:t>
            </a:r>
            <a:r>
              <a:rPr sz="700" spc="4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(Group</a:t>
            </a:r>
            <a:r>
              <a:rPr sz="700" spc="4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Leader)</a:t>
            </a:r>
            <a:r>
              <a:rPr sz="700" spc="55" dirty="0">
                <a:latin typeface="Times New Roman"/>
                <a:cs typeface="Times New Roman"/>
              </a:rPr>
              <a:t> Theresa </a:t>
            </a:r>
            <a:r>
              <a:rPr sz="700" dirty="0">
                <a:latin typeface="Times New Roman"/>
                <a:cs typeface="Times New Roman"/>
              </a:rPr>
              <a:t>Sackey</a:t>
            </a:r>
            <a:r>
              <a:rPr sz="700" spc="31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22424230</a:t>
            </a:r>
            <a:endParaRPr sz="7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700" spc="55" dirty="0">
                <a:latin typeface="Times New Roman"/>
                <a:cs typeface="Times New Roman"/>
              </a:rPr>
              <a:t>Ebenezer</a:t>
            </a:r>
            <a:r>
              <a:rPr sz="700" spc="5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Botwi</a:t>
            </a:r>
            <a:r>
              <a:rPr sz="700" spc="30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22429815</a:t>
            </a:r>
            <a:endParaRPr sz="700" dirty="0">
              <a:latin typeface="Times New Roman"/>
              <a:cs typeface="Times New Roman"/>
            </a:endParaRPr>
          </a:p>
          <a:p>
            <a:pPr marL="308610" marR="300990" algn="ctr">
              <a:lnSpc>
                <a:spcPct val="112700"/>
              </a:lnSpc>
            </a:pPr>
            <a:r>
              <a:rPr sz="700" spc="60" dirty="0">
                <a:latin typeface="Times New Roman"/>
                <a:cs typeface="Times New Roman"/>
              </a:rPr>
              <a:t>Solomon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Djaba</a:t>
            </a:r>
            <a:r>
              <a:rPr sz="700" spc="18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22424682</a:t>
            </a:r>
            <a:r>
              <a:rPr sz="700" spc="55" dirty="0">
                <a:latin typeface="Times New Roman"/>
                <a:cs typeface="Times New Roman"/>
              </a:rPr>
              <a:t> Adams</a:t>
            </a:r>
            <a:r>
              <a:rPr sz="700" spc="45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Amadu</a:t>
            </a:r>
            <a:r>
              <a:rPr sz="700" spc="4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Diiwu</a:t>
            </a:r>
            <a:r>
              <a:rPr sz="700" spc="285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2242423</a:t>
            </a:r>
            <a:endParaRPr sz="7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1723" y="2377542"/>
            <a:ext cx="576543" cy="53336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131464"/>
            <a:ext cx="5760085" cy="108585"/>
            <a:chOff x="0" y="3131464"/>
            <a:chExt cx="5760085" cy="108585"/>
          </a:xfrm>
        </p:grpSpPr>
        <p:sp>
          <p:nvSpPr>
            <p:cNvPr id="6" name="object 6"/>
            <p:cNvSpPr/>
            <p:nvPr/>
          </p:nvSpPr>
          <p:spPr>
            <a:xfrm>
              <a:off x="0" y="3131464"/>
              <a:ext cx="1728470" cy="108585"/>
            </a:xfrm>
            <a:custGeom>
              <a:avLst/>
              <a:gdLst/>
              <a:ahLst/>
              <a:cxnLst/>
              <a:rect l="l" t="t" r="r" b="b"/>
              <a:pathLst>
                <a:path w="1728470" h="108585">
                  <a:moveTo>
                    <a:pt x="1728012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1728012" y="10855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003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28012" y="3131464"/>
              <a:ext cx="2304415" cy="108585"/>
            </a:xfrm>
            <a:custGeom>
              <a:avLst/>
              <a:gdLst/>
              <a:ahLst/>
              <a:cxnLst/>
              <a:rect l="l" t="t" r="r" b="b"/>
              <a:pathLst>
                <a:path w="2304415" h="108585">
                  <a:moveTo>
                    <a:pt x="2303970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2303970" y="108559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31983" y="3131464"/>
              <a:ext cx="1728470" cy="108585"/>
            </a:xfrm>
            <a:custGeom>
              <a:avLst/>
              <a:gdLst/>
              <a:ahLst/>
              <a:cxnLst/>
              <a:rect l="l" t="t" r="r" b="b"/>
              <a:pathLst>
                <a:path w="1728470" h="108585">
                  <a:moveTo>
                    <a:pt x="1728012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1728012" y="10855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003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10" dirty="0"/>
              <a:t>Group</a:t>
            </a:r>
            <a:r>
              <a:rPr spc="105" dirty="0"/>
              <a:t> </a:t>
            </a:r>
            <a:r>
              <a:rPr spc="-25" dirty="0"/>
              <a:t>B11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332100" y="3131465"/>
            <a:ext cx="1496555" cy="89768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z="550" spc="20" dirty="0">
                <a:solidFill>
                  <a:srgbClr val="003874"/>
                </a:solidFill>
                <a:latin typeface="Times New Roman"/>
                <a:cs typeface="Times New Roman"/>
              </a:rPr>
              <a:t>Global Analysis of Acute Food Insecurity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</a:t>
            </a:fld>
            <a:r>
              <a:rPr spc="-10" dirty="0"/>
              <a:t> </a:t>
            </a:r>
            <a:r>
              <a:rPr spc="100" dirty="0"/>
              <a:t>/</a:t>
            </a:r>
            <a:r>
              <a:rPr spc="-5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Problem</a:t>
            </a:r>
            <a:r>
              <a:rPr spc="-15" dirty="0"/>
              <a:t> </a:t>
            </a:r>
            <a:r>
              <a:rPr spc="75" dirty="0"/>
              <a:t>Statement</a:t>
            </a:r>
            <a:r>
              <a:rPr spc="-10" dirty="0"/>
              <a:t> </a:t>
            </a:r>
            <a:r>
              <a:rPr spc="-80" dirty="0"/>
              <a:t>&amp;</a:t>
            </a:r>
            <a:r>
              <a:rPr spc="-10" dirty="0"/>
              <a:t> </a:t>
            </a:r>
            <a:r>
              <a:rPr spc="70" dirty="0"/>
              <a:t>Data</a:t>
            </a:r>
            <a:r>
              <a:rPr spc="-10" dirty="0"/>
              <a:t> </a:t>
            </a:r>
            <a:r>
              <a:rPr spc="45" dirty="0"/>
              <a:t>Source</a:t>
            </a:r>
          </a:p>
        </p:txBody>
      </p:sp>
      <p:sp>
        <p:nvSpPr>
          <p:cNvPr id="3" name="object 3"/>
          <p:cNvSpPr/>
          <p:nvPr/>
        </p:nvSpPr>
        <p:spPr>
          <a:xfrm>
            <a:off x="-32" y="421334"/>
            <a:ext cx="5760085" cy="33655"/>
          </a:xfrm>
          <a:custGeom>
            <a:avLst/>
            <a:gdLst/>
            <a:ahLst/>
            <a:cxnLst/>
            <a:rect l="l" t="t" r="r" b="b"/>
            <a:pathLst>
              <a:path w="5760085" h="33654">
                <a:moveTo>
                  <a:pt x="5760073" y="0"/>
                </a:moveTo>
                <a:lnTo>
                  <a:pt x="0" y="0"/>
                </a:lnTo>
                <a:lnTo>
                  <a:pt x="0" y="33402"/>
                </a:lnTo>
                <a:lnTo>
                  <a:pt x="5760073" y="33402"/>
                </a:lnTo>
                <a:lnTo>
                  <a:pt x="5760073" y="0"/>
                </a:lnTo>
                <a:close/>
              </a:path>
            </a:pathLst>
          </a:custGeom>
          <a:solidFill>
            <a:srgbClr val="0038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5988" y="921071"/>
            <a:ext cx="4972685" cy="1553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815" marR="30480" indent="-133350">
              <a:lnSpc>
                <a:spcPct val="112900"/>
              </a:lnSpc>
              <a:spcBef>
                <a:spcPts val="100"/>
              </a:spcBef>
              <a:buClr>
                <a:srgbClr val="003874"/>
              </a:buClr>
              <a:buFont typeface="Times New Roman"/>
              <a:buChar char="•"/>
              <a:tabLst>
                <a:tab pos="170815" algn="l"/>
              </a:tabLst>
            </a:pPr>
            <a:r>
              <a:rPr sz="1000" b="1" dirty="0">
                <a:latin typeface="Cambria"/>
                <a:cs typeface="Cambria"/>
              </a:rPr>
              <a:t>Objective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analyze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global</a:t>
            </a:r>
            <a:r>
              <a:rPr sz="1000" spc="60" dirty="0">
                <a:latin typeface="Times New Roman"/>
                <a:cs typeface="Times New Roman"/>
              </a:rPr>
              <a:t> trends,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regional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disparities,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and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volatility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spc="65" dirty="0">
                <a:latin typeface="Times New Roman"/>
                <a:cs typeface="Times New Roman"/>
              </a:rPr>
              <a:t>in </a:t>
            </a:r>
            <a:r>
              <a:rPr sz="1000" spc="70" dirty="0">
                <a:latin typeface="Times New Roman"/>
                <a:cs typeface="Times New Roman"/>
              </a:rPr>
              <a:t>acute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spc="35" dirty="0">
                <a:latin typeface="Times New Roman"/>
                <a:cs typeface="Times New Roman"/>
              </a:rPr>
              <a:t>food </a:t>
            </a:r>
            <a:r>
              <a:rPr sz="1000" spc="50" dirty="0">
                <a:latin typeface="Times New Roman"/>
                <a:cs typeface="Times New Roman"/>
              </a:rPr>
              <a:t>insecurity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using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spc="80" dirty="0">
                <a:latin typeface="Times New Roman"/>
                <a:cs typeface="Times New Roman"/>
              </a:rPr>
              <a:t>the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Integrated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Food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spc="30" dirty="0">
                <a:latin typeface="Times New Roman"/>
                <a:cs typeface="Times New Roman"/>
              </a:rPr>
              <a:t>Security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Phase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30" dirty="0">
                <a:latin typeface="Times New Roman"/>
                <a:cs typeface="Times New Roman"/>
              </a:rPr>
              <a:t>Classification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(IPC)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spc="40" dirty="0">
                <a:latin typeface="Times New Roman"/>
                <a:cs typeface="Times New Roman"/>
              </a:rPr>
              <a:t>framework.</a:t>
            </a:r>
            <a:endParaRPr sz="1000">
              <a:latin typeface="Times New Roman"/>
              <a:cs typeface="Times New Roman"/>
            </a:endParaRPr>
          </a:p>
          <a:p>
            <a:pPr marL="170815" indent="-132715">
              <a:lnSpc>
                <a:spcPct val="100000"/>
              </a:lnSpc>
              <a:spcBef>
                <a:spcPts val="450"/>
              </a:spcBef>
              <a:buClr>
                <a:srgbClr val="003874"/>
              </a:buClr>
              <a:buFont typeface="Times New Roman"/>
              <a:buChar char="•"/>
              <a:tabLst>
                <a:tab pos="170815" algn="l"/>
              </a:tabLst>
            </a:pPr>
            <a:r>
              <a:rPr sz="1000" b="1" dirty="0">
                <a:latin typeface="Cambria"/>
                <a:cs typeface="Cambria"/>
              </a:rPr>
              <a:t>Data</a:t>
            </a:r>
            <a:r>
              <a:rPr sz="1000" b="1" spc="120" dirty="0">
                <a:latin typeface="Cambria"/>
                <a:cs typeface="Cambria"/>
              </a:rPr>
              <a:t> </a:t>
            </a:r>
            <a:r>
              <a:rPr sz="1000" b="1" dirty="0">
                <a:latin typeface="Cambria"/>
                <a:cs typeface="Cambria"/>
              </a:rPr>
              <a:t>Source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IPC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(Integrated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Food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Security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spc="65" dirty="0">
                <a:latin typeface="Times New Roman"/>
                <a:cs typeface="Times New Roman"/>
              </a:rPr>
              <a:t>Phase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Classification)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dataset.</a:t>
            </a:r>
            <a:endParaRPr sz="1000">
              <a:latin typeface="Times New Roman"/>
              <a:cs typeface="Times New Roman"/>
            </a:endParaRPr>
          </a:p>
          <a:p>
            <a:pPr marL="170815" indent="-132715">
              <a:lnSpc>
                <a:spcPct val="100000"/>
              </a:lnSpc>
              <a:spcBef>
                <a:spcPts val="455"/>
              </a:spcBef>
              <a:buClr>
                <a:srgbClr val="003874"/>
              </a:buClr>
              <a:buFont typeface="Times New Roman"/>
              <a:buChar char="•"/>
              <a:tabLst>
                <a:tab pos="170815" algn="l"/>
              </a:tabLst>
            </a:pPr>
            <a:r>
              <a:rPr sz="1000" b="1" dirty="0">
                <a:latin typeface="Cambria"/>
                <a:cs typeface="Cambria"/>
              </a:rPr>
              <a:t>Timeframe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2017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–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spc="40" dirty="0">
                <a:latin typeface="Times New Roman"/>
                <a:cs typeface="Times New Roman"/>
              </a:rPr>
              <a:t>Present.</a:t>
            </a:r>
            <a:endParaRPr sz="1000">
              <a:latin typeface="Times New Roman"/>
              <a:cs typeface="Times New Roman"/>
            </a:endParaRPr>
          </a:p>
          <a:p>
            <a:pPr marL="170815" marR="30480" indent="-133350">
              <a:lnSpc>
                <a:spcPct val="112900"/>
              </a:lnSpc>
              <a:spcBef>
                <a:spcPts val="300"/>
              </a:spcBef>
              <a:buClr>
                <a:srgbClr val="003874"/>
              </a:buClr>
              <a:buFont typeface="Times New Roman"/>
              <a:buChar char="•"/>
              <a:tabLst>
                <a:tab pos="170815" algn="l"/>
              </a:tabLst>
            </a:pPr>
            <a:r>
              <a:rPr sz="1000" b="1" dirty="0">
                <a:latin typeface="Cambria"/>
                <a:cs typeface="Cambria"/>
              </a:rPr>
              <a:t>Technical</a:t>
            </a:r>
            <a:r>
              <a:rPr sz="1000" b="1" spc="95" dirty="0">
                <a:latin typeface="Cambria"/>
                <a:cs typeface="Cambria"/>
              </a:rPr>
              <a:t> </a:t>
            </a:r>
            <a:r>
              <a:rPr sz="1000" b="1" spc="10" dirty="0">
                <a:latin typeface="Cambria"/>
                <a:cs typeface="Cambria"/>
              </a:rPr>
              <a:t>Challenge</a:t>
            </a:r>
            <a:r>
              <a:rPr sz="1000" spc="10" dirty="0">
                <a:latin typeface="Times New Roman"/>
                <a:cs typeface="Times New Roman"/>
              </a:rPr>
              <a:t>: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Irregularity–unlike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spc="70" dirty="0">
                <a:latin typeface="Times New Roman"/>
                <a:cs typeface="Times New Roman"/>
              </a:rPr>
              <a:t>standard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spc="65" dirty="0">
                <a:latin typeface="Times New Roman"/>
                <a:cs typeface="Times New Roman"/>
              </a:rPr>
              <a:t>time-</a:t>
            </a:r>
            <a:r>
              <a:rPr sz="1000" spc="50" dirty="0">
                <a:latin typeface="Times New Roman"/>
                <a:cs typeface="Times New Roman"/>
              </a:rPr>
              <a:t>series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(monthly/daily),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IPC </a:t>
            </a:r>
            <a:r>
              <a:rPr sz="1000" spc="70" dirty="0">
                <a:latin typeface="Times New Roman"/>
                <a:cs typeface="Times New Roman"/>
              </a:rPr>
              <a:t>assessments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spc="65" dirty="0">
                <a:latin typeface="Times New Roman"/>
                <a:cs typeface="Times New Roman"/>
              </a:rPr>
              <a:t>occur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irregularly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(every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49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months).</a:t>
            </a:r>
            <a:endParaRPr sz="1000">
              <a:latin typeface="Times New Roman"/>
              <a:cs typeface="Times New Roman"/>
            </a:endParaRPr>
          </a:p>
          <a:p>
            <a:pPr marL="170815" marR="398780" indent="-133350">
              <a:lnSpc>
                <a:spcPct val="112900"/>
              </a:lnSpc>
              <a:spcBef>
                <a:spcPts val="300"/>
              </a:spcBef>
              <a:buClr>
                <a:srgbClr val="003874"/>
              </a:buClr>
              <a:buFont typeface="Times New Roman"/>
              <a:buChar char="•"/>
              <a:tabLst>
                <a:tab pos="170815" algn="l"/>
              </a:tabLst>
            </a:pPr>
            <a:r>
              <a:rPr sz="1000" b="1" dirty="0">
                <a:latin typeface="Cambria"/>
                <a:cs typeface="Cambria"/>
              </a:rPr>
              <a:t>Metric</a:t>
            </a:r>
            <a:r>
              <a:rPr sz="1000" b="1" spc="70" dirty="0">
                <a:latin typeface="Cambria"/>
                <a:cs typeface="Cambria"/>
              </a:rPr>
              <a:t> </a:t>
            </a:r>
            <a:r>
              <a:rPr sz="1000" b="1" dirty="0">
                <a:latin typeface="Cambria"/>
                <a:cs typeface="Cambria"/>
              </a:rPr>
              <a:t>Definition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Crisis+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=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Phase </a:t>
            </a:r>
            <a:r>
              <a:rPr sz="1000" dirty="0">
                <a:latin typeface="Times New Roman"/>
                <a:cs typeface="Times New Roman"/>
              </a:rPr>
              <a:t>3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(Crisis)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+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Phase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4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(Emergency)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+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Phase </a:t>
            </a:r>
            <a:r>
              <a:rPr sz="1000" spc="-50" dirty="0">
                <a:latin typeface="Times New Roman"/>
                <a:cs typeface="Times New Roman"/>
              </a:rPr>
              <a:t>5</a:t>
            </a:r>
            <a:r>
              <a:rPr sz="1000" spc="45" dirty="0">
                <a:latin typeface="Times New Roman"/>
                <a:cs typeface="Times New Roman"/>
              </a:rPr>
              <a:t> (Catastrophe)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131464"/>
            <a:ext cx="5760085" cy="108585"/>
            <a:chOff x="0" y="3131464"/>
            <a:chExt cx="5760085" cy="108585"/>
          </a:xfrm>
        </p:grpSpPr>
        <p:sp>
          <p:nvSpPr>
            <p:cNvPr id="6" name="object 6"/>
            <p:cNvSpPr/>
            <p:nvPr/>
          </p:nvSpPr>
          <p:spPr>
            <a:xfrm>
              <a:off x="0" y="3131464"/>
              <a:ext cx="1728470" cy="108585"/>
            </a:xfrm>
            <a:custGeom>
              <a:avLst/>
              <a:gdLst/>
              <a:ahLst/>
              <a:cxnLst/>
              <a:rect l="l" t="t" r="r" b="b"/>
              <a:pathLst>
                <a:path w="1728470" h="108585">
                  <a:moveTo>
                    <a:pt x="1728012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1728012" y="10855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003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28012" y="3131464"/>
              <a:ext cx="2304415" cy="108585"/>
            </a:xfrm>
            <a:custGeom>
              <a:avLst/>
              <a:gdLst/>
              <a:ahLst/>
              <a:cxnLst/>
              <a:rect l="l" t="t" r="r" b="b"/>
              <a:pathLst>
                <a:path w="2304415" h="108585">
                  <a:moveTo>
                    <a:pt x="2303970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2303970" y="108559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31983" y="3131464"/>
              <a:ext cx="1728470" cy="108585"/>
            </a:xfrm>
            <a:custGeom>
              <a:avLst/>
              <a:gdLst/>
              <a:ahLst/>
              <a:cxnLst/>
              <a:rect l="l" t="t" r="r" b="b"/>
              <a:pathLst>
                <a:path w="1728470" h="108585">
                  <a:moveTo>
                    <a:pt x="1728012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1728012" y="10855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003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10" dirty="0"/>
              <a:t>Group</a:t>
            </a:r>
            <a:r>
              <a:rPr spc="105" dirty="0"/>
              <a:t> </a:t>
            </a:r>
            <a:r>
              <a:rPr spc="-25" dirty="0"/>
              <a:t>B11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332100" y="3131764"/>
            <a:ext cx="1465199" cy="89768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z="550" spc="20" dirty="0">
                <a:solidFill>
                  <a:srgbClr val="003874"/>
                </a:solidFill>
                <a:latin typeface="Times New Roman"/>
                <a:cs typeface="Times New Roman"/>
              </a:rPr>
              <a:t>Global Analysis of Acute Food Insecurity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</a:t>
            </a:fld>
            <a:r>
              <a:rPr spc="-10" dirty="0"/>
              <a:t> </a:t>
            </a:r>
            <a:r>
              <a:rPr spc="100" dirty="0"/>
              <a:t>/</a:t>
            </a:r>
            <a:r>
              <a:rPr spc="-5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Global</a:t>
            </a:r>
            <a:r>
              <a:rPr spc="45" dirty="0"/>
              <a:t> </a:t>
            </a:r>
            <a:r>
              <a:rPr spc="55" dirty="0"/>
              <a:t>Insecurity</a:t>
            </a:r>
            <a:r>
              <a:rPr spc="45" dirty="0"/>
              <a:t> </a:t>
            </a:r>
            <a:r>
              <a:rPr spc="10" dirty="0"/>
              <a:t>is</a:t>
            </a:r>
            <a:r>
              <a:rPr spc="45" dirty="0"/>
              <a:t> </a:t>
            </a:r>
            <a:r>
              <a:rPr spc="10" dirty="0"/>
              <a:t>Volatile,</a:t>
            </a:r>
            <a:r>
              <a:rPr spc="45" dirty="0"/>
              <a:t> </a:t>
            </a:r>
            <a:r>
              <a:rPr spc="60" dirty="0"/>
              <a:t>Not</a:t>
            </a:r>
            <a:r>
              <a:rPr spc="50" dirty="0"/>
              <a:t> </a:t>
            </a:r>
            <a:r>
              <a:rPr spc="40" dirty="0"/>
              <a:t>Linear</a:t>
            </a:r>
          </a:p>
        </p:txBody>
      </p:sp>
      <p:sp>
        <p:nvSpPr>
          <p:cNvPr id="3" name="object 3"/>
          <p:cNvSpPr/>
          <p:nvPr/>
        </p:nvSpPr>
        <p:spPr>
          <a:xfrm>
            <a:off x="-32" y="421334"/>
            <a:ext cx="5760085" cy="33655"/>
          </a:xfrm>
          <a:custGeom>
            <a:avLst/>
            <a:gdLst/>
            <a:ahLst/>
            <a:cxnLst/>
            <a:rect l="l" t="t" r="r" b="b"/>
            <a:pathLst>
              <a:path w="5760085" h="33654">
                <a:moveTo>
                  <a:pt x="5760073" y="0"/>
                </a:moveTo>
                <a:lnTo>
                  <a:pt x="0" y="0"/>
                </a:lnTo>
                <a:lnTo>
                  <a:pt x="0" y="33402"/>
                </a:lnTo>
                <a:lnTo>
                  <a:pt x="5760073" y="33402"/>
                </a:lnTo>
                <a:lnTo>
                  <a:pt x="5760073" y="0"/>
                </a:lnTo>
                <a:close/>
              </a:path>
            </a:pathLst>
          </a:custGeom>
          <a:solidFill>
            <a:srgbClr val="00387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7404" y="573846"/>
            <a:ext cx="3222365" cy="170711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3158" y="2380519"/>
            <a:ext cx="4857750" cy="746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3670" marR="210820" indent="-116205">
              <a:lnSpc>
                <a:spcPct val="112700"/>
              </a:lnSpc>
              <a:spcBef>
                <a:spcPts val="90"/>
              </a:spcBef>
              <a:buClr>
                <a:srgbClr val="003874"/>
              </a:buClr>
              <a:buFont typeface="Times New Roman"/>
              <a:buChar char="•"/>
              <a:tabLst>
                <a:tab pos="153670" algn="l"/>
              </a:tabLst>
            </a:pPr>
            <a:r>
              <a:rPr sz="700" spc="20" dirty="0">
                <a:latin typeface="Times New Roman"/>
                <a:cs typeface="Times New Roman"/>
              </a:rPr>
              <a:t>Finding:</a:t>
            </a:r>
            <a:r>
              <a:rPr sz="700" spc="65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There</a:t>
            </a:r>
            <a:r>
              <a:rPr sz="700" spc="3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is</a:t>
            </a:r>
            <a:r>
              <a:rPr sz="700" spc="25" dirty="0">
                <a:latin typeface="Times New Roman"/>
                <a:cs typeface="Times New Roman"/>
              </a:rPr>
              <a:t> </a:t>
            </a:r>
            <a:r>
              <a:rPr sz="700" spc="85" dirty="0">
                <a:latin typeface="Times New Roman"/>
                <a:cs typeface="Times New Roman"/>
              </a:rPr>
              <a:t>no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smooth,</a:t>
            </a:r>
            <a:r>
              <a:rPr sz="700" spc="3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predictable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upward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or</a:t>
            </a:r>
            <a:r>
              <a:rPr sz="700" spc="3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downward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trend.</a:t>
            </a:r>
            <a:r>
              <a:rPr sz="700" spc="70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The</a:t>
            </a:r>
            <a:r>
              <a:rPr sz="700" spc="25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global</a:t>
            </a:r>
            <a:r>
              <a:rPr sz="700" spc="30" dirty="0">
                <a:latin typeface="Times New Roman"/>
                <a:cs typeface="Times New Roman"/>
              </a:rPr>
              <a:t> </a:t>
            </a:r>
            <a:r>
              <a:rPr sz="700" spc="45" dirty="0">
                <a:latin typeface="Times New Roman"/>
                <a:cs typeface="Times New Roman"/>
              </a:rPr>
              <a:t>average</a:t>
            </a:r>
            <a:r>
              <a:rPr sz="700" spc="25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is</a:t>
            </a:r>
            <a:r>
              <a:rPr sz="700" spc="25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defined</a:t>
            </a:r>
            <a:r>
              <a:rPr sz="700" spc="25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by </a:t>
            </a:r>
            <a:r>
              <a:rPr sz="700" b="1" spc="-20" dirty="0">
                <a:latin typeface="Cambria"/>
                <a:cs typeface="Cambria"/>
              </a:rPr>
              <a:t>high</a:t>
            </a:r>
            <a:r>
              <a:rPr sz="700" b="1" spc="500" dirty="0">
                <a:latin typeface="Cambria"/>
                <a:cs typeface="Cambria"/>
              </a:rPr>
              <a:t> </a:t>
            </a:r>
            <a:r>
              <a:rPr sz="700" b="1" spc="-10" dirty="0">
                <a:latin typeface="Cambria"/>
                <a:cs typeface="Cambria"/>
              </a:rPr>
              <a:t>volatility</a:t>
            </a:r>
            <a:r>
              <a:rPr sz="700" spc="-10" dirty="0">
                <a:latin typeface="Times New Roman"/>
                <a:cs typeface="Times New Roman"/>
              </a:rPr>
              <a:t>.</a:t>
            </a:r>
            <a:endParaRPr sz="700">
              <a:latin typeface="Times New Roman"/>
              <a:cs typeface="Times New Roman"/>
            </a:endParaRPr>
          </a:p>
          <a:p>
            <a:pPr marL="153670" marR="221615" indent="-116205">
              <a:lnSpc>
                <a:spcPct val="112700"/>
              </a:lnSpc>
              <a:buClr>
                <a:srgbClr val="003874"/>
              </a:buClr>
              <a:buFont typeface="Times New Roman"/>
              <a:buChar char="•"/>
              <a:tabLst>
                <a:tab pos="153670" algn="l"/>
              </a:tabLst>
            </a:pPr>
            <a:r>
              <a:rPr sz="700" spc="60" dirty="0">
                <a:latin typeface="Times New Roman"/>
                <a:cs typeface="Times New Roman"/>
              </a:rPr>
              <a:t>The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spc="45" dirty="0">
                <a:latin typeface="Times New Roman"/>
                <a:cs typeface="Times New Roman"/>
              </a:rPr>
              <a:t>"Shock"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spc="40" dirty="0">
                <a:latin typeface="Times New Roman"/>
                <a:cs typeface="Times New Roman"/>
              </a:rPr>
              <a:t>Factor:</a:t>
            </a:r>
            <a:r>
              <a:rPr sz="700" spc="55" dirty="0">
                <a:latin typeface="Times New Roman"/>
                <a:cs typeface="Times New Roman"/>
              </a:rPr>
              <a:t> </a:t>
            </a:r>
            <a:r>
              <a:rPr sz="700" spc="40" dirty="0">
                <a:latin typeface="Times New Roman"/>
                <a:cs typeface="Times New Roman"/>
              </a:rPr>
              <a:t>Significant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spc="40" dirty="0">
                <a:latin typeface="Times New Roman"/>
                <a:cs typeface="Times New Roman"/>
              </a:rPr>
              <a:t>spikes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are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observed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post-</a:t>
            </a:r>
            <a:r>
              <a:rPr sz="700" spc="40" dirty="0">
                <a:latin typeface="Times New Roman"/>
                <a:cs typeface="Times New Roman"/>
              </a:rPr>
              <a:t>2020,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40" dirty="0">
                <a:latin typeface="Times New Roman"/>
                <a:cs typeface="Times New Roman"/>
              </a:rPr>
              <a:t>correlating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with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spc="40" dirty="0">
                <a:latin typeface="Times New Roman"/>
                <a:cs typeface="Times New Roman"/>
              </a:rPr>
              <a:t>global</a:t>
            </a:r>
            <a:r>
              <a:rPr sz="700" spc="15" dirty="0">
                <a:latin typeface="Times New Roman"/>
                <a:cs typeface="Times New Roman"/>
              </a:rPr>
              <a:t> </a:t>
            </a:r>
            <a:r>
              <a:rPr sz="700" spc="45" dirty="0">
                <a:latin typeface="Times New Roman"/>
                <a:cs typeface="Times New Roman"/>
              </a:rPr>
              <a:t>stressors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(pandemic, </a:t>
            </a:r>
            <a:r>
              <a:rPr sz="700" spc="55" dirty="0">
                <a:latin typeface="Times New Roman"/>
                <a:cs typeface="Times New Roman"/>
              </a:rPr>
              <a:t>supply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chain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disruptions,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conflict).</a:t>
            </a:r>
            <a:endParaRPr sz="700">
              <a:latin typeface="Times New Roman"/>
              <a:cs typeface="Times New Roman"/>
            </a:endParaRPr>
          </a:p>
          <a:p>
            <a:pPr marL="153670" marR="30480" indent="-116205">
              <a:lnSpc>
                <a:spcPct val="112700"/>
              </a:lnSpc>
              <a:buClr>
                <a:srgbClr val="003874"/>
              </a:buClr>
              <a:buFont typeface="Times New Roman"/>
              <a:buChar char="•"/>
              <a:tabLst>
                <a:tab pos="153670" algn="l"/>
              </a:tabLst>
            </a:pPr>
            <a:r>
              <a:rPr sz="700" spc="55" dirty="0">
                <a:latin typeface="Times New Roman"/>
                <a:cs typeface="Times New Roman"/>
              </a:rPr>
              <a:t>Note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that</a:t>
            </a:r>
            <a:r>
              <a:rPr sz="700" spc="15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countries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with</a:t>
            </a:r>
            <a:r>
              <a:rPr sz="700" spc="15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higher</a:t>
            </a:r>
            <a:r>
              <a:rPr sz="700" spc="15" dirty="0">
                <a:latin typeface="Times New Roman"/>
                <a:cs typeface="Times New Roman"/>
              </a:rPr>
              <a:t> </a:t>
            </a:r>
            <a:r>
              <a:rPr sz="700" spc="30" dirty="0">
                <a:latin typeface="Times New Roman"/>
                <a:cs typeface="Times New Roman"/>
              </a:rPr>
              <a:t>severity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30" dirty="0">
                <a:latin typeface="Times New Roman"/>
                <a:cs typeface="Times New Roman"/>
              </a:rPr>
              <a:t>also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75" dirty="0">
                <a:latin typeface="Times New Roman"/>
                <a:cs typeface="Times New Roman"/>
              </a:rPr>
              <a:t>tend</a:t>
            </a:r>
            <a:r>
              <a:rPr sz="700" spc="15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to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show</a:t>
            </a:r>
            <a:r>
              <a:rPr sz="700" spc="15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higher</a:t>
            </a:r>
            <a:r>
              <a:rPr sz="700" spc="15" dirty="0">
                <a:latin typeface="Times New Roman"/>
                <a:cs typeface="Times New Roman"/>
              </a:rPr>
              <a:t> </a:t>
            </a:r>
            <a:r>
              <a:rPr sz="700" spc="30" dirty="0">
                <a:latin typeface="Times New Roman"/>
                <a:cs typeface="Times New Roman"/>
              </a:rPr>
              <a:t>volatilitythe</a:t>
            </a:r>
            <a:r>
              <a:rPr sz="700" spc="15" dirty="0">
                <a:latin typeface="Times New Roman"/>
                <a:cs typeface="Times New Roman"/>
              </a:rPr>
              <a:t> </a:t>
            </a:r>
            <a:r>
              <a:rPr sz="700" spc="70" dirty="0">
                <a:latin typeface="Times New Roman"/>
                <a:cs typeface="Times New Roman"/>
              </a:rPr>
              <a:t>most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vulnerable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are</a:t>
            </a:r>
            <a:r>
              <a:rPr sz="700" spc="15" dirty="0">
                <a:latin typeface="Times New Roman"/>
                <a:cs typeface="Times New Roman"/>
              </a:rPr>
              <a:t> </a:t>
            </a:r>
            <a:r>
              <a:rPr sz="700" spc="30" dirty="0">
                <a:latin typeface="Times New Roman"/>
                <a:cs typeface="Times New Roman"/>
              </a:rPr>
              <a:t>also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the</a:t>
            </a:r>
            <a:r>
              <a:rPr sz="700" spc="15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most </a:t>
            </a:r>
            <a:r>
              <a:rPr sz="700" spc="45" dirty="0">
                <a:latin typeface="Times New Roman"/>
                <a:cs typeface="Times New Roman"/>
              </a:rPr>
              <a:t>unstable.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131464"/>
            <a:ext cx="5760085" cy="108585"/>
            <a:chOff x="0" y="3131464"/>
            <a:chExt cx="5760085" cy="108585"/>
          </a:xfrm>
        </p:grpSpPr>
        <p:sp>
          <p:nvSpPr>
            <p:cNvPr id="7" name="object 7"/>
            <p:cNvSpPr/>
            <p:nvPr/>
          </p:nvSpPr>
          <p:spPr>
            <a:xfrm>
              <a:off x="0" y="3131464"/>
              <a:ext cx="1728470" cy="108585"/>
            </a:xfrm>
            <a:custGeom>
              <a:avLst/>
              <a:gdLst/>
              <a:ahLst/>
              <a:cxnLst/>
              <a:rect l="l" t="t" r="r" b="b"/>
              <a:pathLst>
                <a:path w="1728470" h="108585">
                  <a:moveTo>
                    <a:pt x="1728012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1728012" y="10855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003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28012" y="3131464"/>
              <a:ext cx="2304415" cy="108585"/>
            </a:xfrm>
            <a:custGeom>
              <a:avLst/>
              <a:gdLst/>
              <a:ahLst/>
              <a:cxnLst/>
              <a:rect l="l" t="t" r="r" b="b"/>
              <a:pathLst>
                <a:path w="2304415" h="108585">
                  <a:moveTo>
                    <a:pt x="2303970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2303970" y="108559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31983" y="3131464"/>
              <a:ext cx="1728470" cy="108585"/>
            </a:xfrm>
            <a:custGeom>
              <a:avLst/>
              <a:gdLst/>
              <a:ahLst/>
              <a:cxnLst/>
              <a:rect l="l" t="t" r="r" b="b"/>
              <a:pathLst>
                <a:path w="1728470" h="108585">
                  <a:moveTo>
                    <a:pt x="1728012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1728012" y="10855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003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10" dirty="0"/>
              <a:t>Group</a:t>
            </a:r>
            <a:r>
              <a:rPr spc="105" dirty="0"/>
              <a:t> </a:t>
            </a:r>
            <a:r>
              <a:rPr spc="-25" dirty="0"/>
              <a:t>B11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332100" y="3131764"/>
            <a:ext cx="1388999" cy="89768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z="550" spc="20" dirty="0">
                <a:solidFill>
                  <a:srgbClr val="003874"/>
                </a:solidFill>
                <a:latin typeface="Times New Roman"/>
                <a:cs typeface="Times New Roman"/>
              </a:rPr>
              <a:t>Global Analysis of Acute Food Insecurity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</a:t>
            </a:fld>
            <a:r>
              <a:rPr spc="-10" dirty="0"/>
              <a:t> </a:t>
            </a:r>
            <a:r>
              <a:rPr spc="100" dirty="0"/>
              <a:t>/</a:t>
            </a:r>
            <a:r>
              <a:rPr spc="-5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Scale</a:t>
            </a:r>
            <a:r>
              <a:rPr spc="95" dirty="0"/>
              <a:t> </a:t>
            </a:r>
            <a:r>
              <a:rPr dirty="0"/>
              <a:t>vs.</a:t>
            </a:r>
            <a:r>
              <a:rPr spc="190" dirty="0"/>
              <a:t> </a:t>
            </a:r>
            <a:r>
              <a:rPr dirty="0"/>
              <a:t>Severity:</a:t>
            </a:r>
            <a:r>
              <a:rPr spc="190" dirty="0"/>
              <a:t> </a:t>
            </a:r>
            <a:r>
              <a:rPr dirty="0"/>
              <a:t>Two</a:t>
            </a:r>
            <a:r>
              <a:rPr spc="95" dirty="0"/>
              <a:t> </a:t>
            </a:r>
            <a:r>
              <a:rPr dirty="0"/>
              <a:t>Faces</a:t>
            </a:r>
            <a:r>
              <a:rPr spc="100" dirty="0"/>
              <a:t> </a:t>
            </a:r>
            <a:r>
              <a:rPr dirty="0"/>
              <a:t>of</a:t>
            </a:r>
            <a:r>
              <a:rPr spc="100" dirty="0"/>
              <a:t> </a:t>
            </a:r>
            <a:r>
              <a:rPr spc="60" dirty="0"/>
              <a:t>Hunger</a:t>
            </a:r>
          </a:p>
        </p:txBody>
      </p:sp>
      <p:sp>
        <p:nvSpPr>
          <p:cNvPr id="3" name="object 3"/>
          <p:cNvSpPr/>
          <p:nvPr/>
        </p:nvSpPr>
        <p:spPr>
          <a:xfrm>
            <a:off x="-32" y="421334"/>
            <a:ext cx="5760085" cy="33655"/>
          </a:xfrm>
          <a:custGeom>
            <a:avLst/>
            <a:gdLst/>
            <a:ahLst/>
            <a:cxnLst/>
            <a:rect l="l" t="t" r="r" b="b"/>
            <a:pathLst>
              <a:path w="5760085" h="33654">
                <a:moveTo>
                  <a:pt x="5760073" y="0"/>
                </a:moveTo>
                <a:lnTo>
                  <a:pt x="0" y="0"/>
                </a:lnTo>
                <a:lnTo>
                  <a:pt x="0" y="33402"/>
                </a:lnTo>
                <a:lnTo>
                  <a:pt x="5760073" y="33402"/>
                </a:lnTo>
                <a:lnTo>
                  <a:pt x="5760073" y="0"/>
                </a:lnTo>
                <a:close/>
              </a:path>
            </a:pathLst>
          </a:custGeom>
          <a:solidFill>
            <a:srgbClr val="00387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306" y="838656"/>
            <a:ext cx="2382848" cy="116273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0458" y="2086768"/>
            <a:ext cx="4980940" cy="6724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30"/>
              </a:spcBef>
              <a:tabLst>
                <a:tab pos="2912110" algn="l"/>
              </a:tabLst>
            </a:pPr>
            <a:r>
              <a:rPr sz="700" spc="50" dirty="0">
                <a:latin typeface="Times New Roman"/>
                <a:cs typeface="Times New Roman"/>
              </a:rPr>
              <a:t>Highest</a:t>
            </a:r>
            <a:r>
              <a:rPr sz="700" spc="3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Total</a:t>
            </a:r>
            <a:r>
              <a:rPr sz="700" spc="35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Population</a:t>
            </a:r>
            <a:r>
              <a:rPr sz="700" spc="4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(Millions)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1050" spc="75" baseline="7936" dirty="0">
                <a:latin typeface="Times New Roman"/>
                <a:cs typeface="Times New Roman"/>
              </a:rPr>
              <a:t>Highest</a:t>
            </a:r>
            <a:r>
              <a:rPr sz="1050" spc="22" baseline="7936" dirty="0">
                <a:latin typeface="Times New Roman"/>
                <a:cs typeface="Times New Roman"/>
              </a:rPr>
              <a:t> </a:t>
            </a:r>
            <a:r>
              <a:rPr sz="1050" spc="75" baseline="7936" dirty="0">
                <a:latin typeface="Times New Roman"/>
                <a:cs typeface="Times New Roman"/>
              </a:rPr>
              <a:t>Percentage</a:t>
            </a:r>
            <a:r>
              <a:rPr sz="1050" spc="30" baseline="7936" dirty="0">
                <a:latin typeface="Times New Roman"/>
                <a:cs typeface="Times New Roman"/>
              </a:rPr>
              <a:t> </a:t>
            </a:r>
            <a:r>
              <a:rPr sz="1050" baseline="7936" dirty="0">
                <a:latin typeface="Times New Roman"/>
                <a:cs typeface="Times New Roman"/>
              </a:rPr>
              <a:t>of</a:t>
            </a:r>
            <a:r>
              <a:rPr sz="1050" spc="44" baseline="7936" dirty="0">
                <a:latin typeface="Times New Roman"/>
                <a:cs typeface="Times New Roman"/>
              </a:rPr>
              <a:t> </a:t>
            </a:r>
            <a:r>
              <a:rPr sz="1050" spc="82" baseline="7936" dirty="0">
                <a:latin typeface="Times New Roman"/>
                <a:cs typeface="Times New Roman"/>
              </a:rPr>
              <a:t>Population</a:t>
            </a:r>
            <a:r>
              <a:rPr sz="1050" spc="30" baseline="7936" dirty="0">
                <a:latin typeface="Times New Roman"/>
                <a:cs typeface="Times New Roman"/>
              </a:rPr>
              <a:t> </a:t>
            </a:r>
            <a:r>
              <a:rPr sz="1050" spc="-37" baseline="7936" dirty="0">
                <a:latin typeface="Times New Roman"/>
                <a:cs typeface="Times New Roman"/>
              </a:rPr>
              <a:t>(%)</a:t>
            </a:r>
            <a:endParaRPr sz="1050" baseline="7936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700">
              <a:latin typeface="Times New Roman"/>
              <a:cs typeface="Times New Roman"/>
            </a:endParaRPr>
          </a:p>
          <a:p>
            <a:pPr marL="166370" indent="-115570">
              <a:lnSpc>
                <a:spcPct val="100000"/>
              </a:lnSpc>
              <a:buClr>
                <a:srgbClr val="003874"/>
              </a:buClr>
              <a:buFont typeface="Times New Roman"/>
              <a:buChar char="•"/>
              <a:tabLst>
                <a:tab pos="166370" algn="l"/>
              </a:tabLst>
            </a:pPr>
            <a:r>
              <a:rPr sz="700" spc="20" dirty="0">
                <a:latin typeface="Times New Roman"/>
                <a:cs typeface="Times New Roman"/>
              </a:rPr>
              <a:t>Volume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i="1" spc="20" dirty="0">
                <a:latin typeface="Times New Roman"/>
                <a:cs typeface="Times New Roman"/>
              </a:rPr>
              <a:t>≠</a:t>
            </a:r>
            <a:r>
              <a:rPr sz="700" i="1" spc="5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Severity:</a:t>
            </a:r>
            <a:r>
              <a:rPr sz="700" spc="60" dirty="0">
                <a:latin typeface="Times New Roman"/>
                <a:cs typeface="Times New Roman"/>
              </a:rPr>
              <a:t> The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countries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with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the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spc="70" dirty="0">
                <a:latin typeface="Times New Roman"/>
                <a:cs typeface="Times New Roman"/>
              </a:rPr>
              <a:t>most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people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in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spc="70" dirty="0">
                <a:latin typeface="Times New Roman"/>
                <a:cs typeface="Times New Roman"/>
              </a:rPr>
              <a:t>hunger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are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rarely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the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70" dirty="0">
                <a:latin typeface="Times New Roman"/>
                <a:cs typeface="Times New Roman"/>
              </a:rPr>
              <a:t>ones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with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the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highest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spc="45" dirty="0">
                <a:latin typeface="Times New Roman"/>
                <a:cs typeface="Times New Roman"/>
              </a:rPr>
              <a:t>percentages.</a:t>
            </a:r>
            <a:endParaRPr sz="700">
              <a:latin typeface="Times New Roman"/>
              <a:cs typeface="Times New Roman"/>
            </a:endParaRPr>
          </a:p>
          <a:p>
            <a:pPr marL="166370" marR="43180" indent="-116205">
              <a:lnSpc>
                <a:spcPct val="112700"/>
              </a:lnSpc>
              <a:spcBef>
                <a:spcPts val="300"/>
              </a:spcBef>
              <a:buClr>
                <a:srgbClr val="003874"/>
              </a:buClr>
              <a:buFont typeface="Times New Roman"/>
              <a:buChar char="•"/>
              <a:tabLst>
                <a:tab pos="166370" algn="l"/>
              </a:tabLst>
            </a:pPr>
            <a:r>
              <a:rPr sz="700" spc="60" dirty="0">
                <a:latin typeface="Times New Roman"/>
                <a:cs typeface="Times New Roman"/>
              </a:rPr>
              <a:t>The</a:t>
            </a:r>
            <a:r>
              <a:rPr sz="700" spc="55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Resource</a:t>
            </a:r>
            <a:r>
              <a:rPr sz="700" spc="6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Paradox:</a:t>
            </a:r>
            <a:r>
              <a:rPr sz="700" spc="120" dirty="0">
                <a:latin typeface="Times New Roman"/>
                <a:cs typeface="Times New Roman"/>
              </a:rPr>
              <a:t> </a:t>
            </a:r>
            <a:r>
              <a:rPr sz="700" spc="-40" dirty="0">
                <a:latin typeface="Times New Roman"/>
                <a:cs typeface="Times New Roman"/>
              </a:rPr>
              <a:t>A</a:t>
            </a:r>
            <a:r>
              <a:rPr sz="700" spc="6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10%</a:t>
            </a:r>
            <a:r>
              <a:rPr sz="700" spc="7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crisis</a:t>
            </a:r>
            <a:r>
              <a:rPr sz="700" spc="65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in</a:t>
            </a:r>
            <a:r>
              <a:rPr sz="700" spc="6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a </a:t>
            </a:r>
            <a:r>
              <a:rPr sz="700" spc="50" dirty="0">
                <a:latin typeface="Times New Roman"/>
                <a:cs typeface="Times New Roman"/>
              </a:rPr>
              <a:t>giant</a:t>
            </a:r>
            <a:r>
              <a:rPr sz="700" spc="6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nation</a:t>
            </a:r>
            <a:r>
              <a:rPr sz="700" spc="6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(like</a:t>
            </a:r>
            <a:r>
              <a:rPr sz="700" spc="6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Nigeria)</a:t>
            </a:r>
            <a:r>
              <a:rPr sz="700" spc="70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requires</a:t>
            </a:r>
            <a:r>
              <a:rPr sz="700" spc="60" dirty="0">
                <a:latin typeface="Times New Roman"/>
                <a:cs typeface="Times New Roman"/>
              </a:rPr>
              <a:t> </a:t>
            </a:r>
            <a:r>
              <a:rPr sz="700" spc="70" dirty="0">
                <a:latin typeface="Times New Roman"/>
                <a:cs typeface="Times New Roman"/>
              </a:rPr>
              <a:t>more</a:t>
            </a:r>
            <a:r>
              <a:rPr sz="700" spc="60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food</a:t>
            </a:r>
            <a:r>
              <a:rPr sz="700" spc="65" dirty="0">
                <a:latin typeface="Times New Roman"/>
                <a:cs typeface="Times New Roman"/>
              </a:rPr>
              <a:t> tonnage</a:t>
            </a:r>
            <a:r>
              <a:rPr sz="700" spc="60" dirty="0">
                <a:latin typeface="Times New Roman"/>
                <a:cs typeface="Times New Roman"/>
              </a:rPr>
              <a:t> </a:t>
            </a:r>
            <a:r>
              <a:rPr sz="700" spc="75" dirty="0">
                <a:latin typeface="Times New Roman"/>
                <a:cs typeface="Times New Roman"/>
              </a:rPr>
              <a:t>than</a:t>
            </a:r>
            <a:r>
              <a:rPr sz="700" spc="6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a </a:t>
            </a:r>
            <a:r>
              <a:rPr sz="700" dirty="0">
                <a:latin typeface="Times New Roman"/>
                <a:cs typeface="Times New Roman"/>
              </a:rPr>
              <a:t>50%</a:t>
            </a:r>
            <a:r>
              <a:rPr sz="700" spc="7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crisis</a:t>
            </a:r>
            <a:r>
              <a:rPr sz="700" spc="65" dirty="0">
                <a:latin typeface="Times New Roman"/>
                <a:cs typeface="Times New Roman"/>
              </a:rPr>
              <a:t> </a:t>
            </a:r>
            <a:r>
              <a:rPr sz="700" spc="30" dirty="0">
                <a:latin typeface="Times New Roman"/>
                <a:cs typeface="Times New Roman"/>
              </a:rPr>
              <a:t>in </a:t>
            </a:r>
            <a:r>
              <a:rPr sz="700" spc="65" dirty="0">
                <a:latin typeface="Times New Roman"/>
                <a:cs typeface="Times New Roman"/>
              </a:rPr>
              <a:t>a</a:t>
            </a:r>
            <a:r>
              <a:rPr sz="700" spc="-10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smaller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45" dirty="0">
                <a:latin typeface="Times New Roman"/>
                <a:cs typeface="Times New Roman"/>
              </a:rPr>
              <a:t>nation.</a:t>
            </a:r>
            <a:endParaRPr sz="7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8438" y="848623"/>
            <a:ext cx="2381590" cy="114286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131464"/>
            <a:ext cx="5760085" cy="108585"/>
            <a:chOff x="0" y="3131464"/>
            <a:chExt cx="5760085" cy="108585"/>
          </a:xfrm>
        </p:grpSpPr>
        <p:sp>
          <p:nvSpPr>
            <p:cNvPr id="8" name="object 8"/>
            <p:cNvSpPr/>
            <p:nvPr/>
          </p:nvSpPr>
          <p:spPr>
            <a:xfrm>
              <a:off x="0" y="3131464"/>
              <a:ext cx="1728470" cy="108585"/>
            </a:xfrm>
            <a:custGeom>
              <a:avLst/>
              <a:gdLst/>
              <a:ahLst/>
              <a:cxnLst/>
              <a:rect l="l" t="t" r="r" b="b"/>
              <a:pathLst>
                <a:path w="1728470" h="108585">
                  <a:moveTo>
                    <a:pt x="1728012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1728012" y="10855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003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28012" y="3131464"/>
              <a:ext cx="2304415" cy="108585"/>
            </a:xfrm>
            <a:custGeom>
              <a:avLst/>
              <a:gdLst/>
              <a:ahLst/>
              <a:cxnLst/>
              <a:rect l="l" t="t" r="r" b="b"/>
              <a:pathLst>
                <a:path w="2304415" h="108585">
                  <a:moveTo>
                    <a:pt x="2303970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2303970" y="108559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31983" y="3131464"/>
              <a:ext cx="1728470" cy="108585"/>
            </a:xfrm>
            <a:custGeom>
              <a:avLst/>
              <a:gdLst/>
              <a:ahLst/>
              <a:cxnLst/>
              <a:rect l="l" t="t" r="r" b="b"/>
              <a:pathLst>
                <a:path w="1728470" h="108585">
                  <a:moveTo>
                    <a:pt x="1728012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1728012" y="10855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003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10" dirty="0"/>
              <a:t>Group</a:t>
            </a:r>
            <a:r>
              <a:rPr spc="105" dirty="0"/>
              <a:t> </a:t>
            </a:r>
            <a:r>
              <a:rPr spc="-25" dirty="0"/>
              <a:t>B11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120900" y="3131465"/>
            <a:ext cx="1307211" cy="89768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z="550" spc="20" dirty="0">
                <a:solidFill>
                  <a:srgbClr val="003874"/>
                </a:solidFill>
                <a:latin typeface="Times New Roman"/>
                <a:cs typeface="Times New Roman"/>
              </a:rPr>
              <a:t>Global Analysis of Acute Food Insecurity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4</a:t>
            </a:fld>
            <a:r>
              <a:rPr spc="-10" dirty="0"/>
              <a:t> </a:t>
            </a:r>
            <a:r>
              <a:rPr spc="100" dirty="0"/>
              <a:t>/</a:t>
            </a:r>
            <a:r>
              <a:rPr spc="-5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Regional</a:t>
            </a:r>
            <a:r>
              <a:rPr spc="90" dirty="0"/>
              <a:t> </a:t>
            </a:r>
            <a:r>
              <a:rPr dirty="0"/>
              <a:t>Analysis:</a:t>
            </a:r>
            <a:r>
              <a:rPr spc="185" dirty="0"/>
              <a:t> </a:t>
            </a:r>
            <a:r>
              <a:rPr spc="-110" dirty="0"/>
              <a:t>A</a:t>
            </a:r>
            <a:r>
              <a:rPr spc="95" dirty="0"/>
              <a:t> </a:t>
            </a:r>
            <a:r>
              <a:rPr dirty="0"/>
              <a:t>Tale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Two</a:t>
            </a:r>
            <a:r>
              <a:rPr spc="90" dirty="0"/>
              <a:t> </a:t>
            </a:r>
            <a:r>
              <a:rPr spc="35" dirty="0"/>
              <a:t>Regions</a:t>
            </a:r>
          </a:p>
        </p:txBody>
      </p:sp>
      <p:sp>
        <p:nvSpPr>
          <p:cNvPr id="3" name="object 3"/>
          <p:cNvSpPr/>
          <p:nvPr/>
        </p:nvSpPr>
        <p:spPr>
          <a:xfrm>
            <a:off x="-32" y="421334"/>
            <a:ext cx="5760085" cy="33655"/>
          </a:xfrm>
          <a:custGeom>
            <a:avLst/>
            <a:gdLst/>
            <a:ahLst/>
            <a:cxnLst/>
            <a:rect l="l" t="t" r="r" b="b"/>
            <a:pathLst>
              <a:path w="5760085" h="33654">
                <a:moveTo>
                  <a:pt x="5760073" y="0"/>
                </a:moveTo>
                <a:lnTo>
                  <a:pt x="0" y="0"/>
                </a:lnTo>
                <a:lnTo>
                  <a:pt x="0" y="33402"/>
                </a:lnTo>
                <a:lnTo>
                  <a:pt x="5760073" y="33402"/>
                </a:lnTo>
                <a:lnTo>
                  <a:pt x="5760073" y="0"/>
                </a:lnTo>
                <a:close/>
              </a:path>
            </a:pathLst>
          </a:custGeom>
          <a:solidFill>
            <a:srgbClr val="0038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08558" y="502557"/>
            <a:ext cx="4844415" cy="266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8270" marR="5080" indent="-116205">
              <a:lnSpc>
                <a:spcPct val="112700"/>
              </a:lnSpc>
              <a:spcBef>
                <a:spcPts val="90"/>
              </a:spcBef>
              <a:buClr>
                <a:srgbClr val="003874"/>
              </a:buClr>
              <a:buFont typeface="Times New Roman"/>
              <a:buChar char="•"/>
              <a:tabLst>
                <a:tab pos="128270" algn="l"/>
              </a:tabLst>
            </a:pPr>
            <a:r>
              <a:rPr sz="700" b="1" dirty="0">
                <a:latin typeface="Cambria"/>
                <a:cs typeface="Cambria"/>
              </a:rPr>
              <a:t>Comparison</a:t>
            </a:r>
            <a:r>
              <a:rPr sz="700" dirty="0">
                <a:latin typeface="Times New Roman"/>
                <a:cs typeface="Times New Roman"/>
              </a:rPr>
              <a:t>:</a:t>
            </a:r>
            <a:r>
              <a:rPr sz="700" spc="175" dirty="0">
                <a:latin typeface="Times New Roman"/>
                <a:cs typeface="Times New Roman"/>
              </a:rPr>
              <a:t> </a:t>
            </a:r>
            <a:r>
              <a:rPr sz="700" spc="-40" dirty="0">
                <a:latin typeface="Times New Roman"/>
                <a:cs typeface="Times New Roman"/>
              </a:rPr>
              <a:t>A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direct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statistical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spc="70" dirty="0">
                <a:latin typeface="Times New Roman"/>
                <a:cs typeface="Times New Roman"/>
              </a:rPr>
              <a:t>comparison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of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food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insecurity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distributions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in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these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two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key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regions;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East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Africa</a:t>
            </a:r>
            <a:r>
              <a:rPr sz="700" spc="85" dirty="0">
                <a:latin typeface="Times New Roman"/>
                <a:cs typeface="Times New Roman"/>
              </a:rPr>
              <a:t> and</a:t>
            </a:r>
            <a:r>
              <a:rPr sz="700" spc="5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West</a:t>
            </a:r>
            <a:r>
              <a:rPr sz="700" spc="55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Africa.</a:t>
            </a:r>
            <a:endParaRPr sz="7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361" y="849781"/>
            <a:ext cx="3470256" cy="183844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3158" y="2799772"/>
            <a:ext cx="3376295" cy="27813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53670" indent="-115570">
              <a:lnSpc>
                <a:spcPct val="100000"/>
              </a:lnSpc>
              <a:spcBef>
                <a:spcPts val="245"/>
              </a:spcBef>
              <a:buClr>
                <a:srgbClr val="003874"/>
              </a:buClr>
              <a:buFont typeface="Times New Roman"/>
              <a:buChar char="•"/>
              <a:tabLst>
                <a:tab pos="153670" algn="l"/>
              </a:tabLst>
            </a:pPr>
            <a:r>
              <a:rPr sz="700" b="1" dirty="0">
                <a:latin typeface="Cambria"/>
                <a:cs typeface="Cambria"/>
              </a:rPr>
              <a:t>West</a:t>
            </a:r>
            <a:r>
              <a:rPr sz="700" b="1" spc="110" dirty="0">
                <a:latin typeface="Cambria"/>
                <a:cs typeface="Cambria"/>
              </a:rPr>
              <a:t> </a:t>
            </a:r>
            <a:r>
              <a:rPr sz="700" b="1" dirty="0">
                <a:latin typeface="Cambria"/>
                <a:cs typeface="Cambria"/>
              </a:rPr>
              <a:t>Africa</a:t>
            </a:r>
            <a:r>
              <a:rPr sz="700" dirty="0">
                <a:latin typeface="Times New Roman"/>
                <a:cs typeface="Times New Roman"/>
              </a:rPr>
              <a:t>:</a:t>
            </a:r>
            <a:r>
              <a:rPr sz="700" spc="185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Higher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variance;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sensitive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to</a:t>
            </a:r>
            <a:r>
              <a:rPr sz="700" spc="12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recent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market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spc="85" dirty="0">
                <a:latin typeface="Times New Roman"/>
                <a:cs typeface="Times New Roman"/>
              </a:rPr>
              <a:t>and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conflict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spc="35" dirty="0">
                <a:latin typeface="Times New Roman"/>
                <a:cs typeface="Times New Roman"/>
              </a:rPr>
              <a:t>shocks.</a:t>
            </a:r>
            <a:endParaRPr sz="700">
              <a:latin typeface="Times New Roman"/>
              <a:cs typeface="Times New Roman"/>
            </a:endParaRPr>
          </a:p>
          <a:p>
            <a:pPr marL="153670" indent="-115570">
              <a:lnSpc>
                <a:spcPct val="100000"/>
              </a:lnSpc>
              <a:spcBef>
                <a:spcPts val="155"/>
              </a:spcBef>
              <a:buClr>
                <a:srgbClr val="003874"/>
              </a:buClr>
              <a:buFont typeface="Times New Roman"/>
              <a:buChar char="•"/>
              <a:tabLst>
                <a:tab pos="153670" algn="l"/>
              </a:tabLst>
            </a:pPr>
            <a:r>
              <a:rPr sz="700" b="1" dirty="0">
                <a:latin typeface="Cambria"/>
                <a:cs typeface="Cambria"/>
              </a:rPr>
              <a:t>East</a:t>
            </a:r>
            <a:r>
              <a:rPr sz="700" b="1" spc="30" dirty="0">
                <a:latin typeface="Cambria"/>
                <a:cs typeface="Cambria"/>
              </a:rPr>
              <a:t> </a:t>
            </a:r>
            <a:r>
              <a:rPr sz="700" b="1" dirty="0">
                <a:latin typeface="Cambria"/>
                <a:cs typeface="Cambria"/>
              </a:rPr>
              <a:t>Africa</a:t>
            </a:r>
            <a:r>
              <a:rPr sz="700" dirty="0">
                <a:latin typeface="Times New Roman"/>
                <a:cs typeface="Times New Roman"/>
              </a:rPr>
              <a:t>:</a:t>
            </a:r>
            <a:r>
              <a:rPr sz="700" spc="75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consistently</a:t>
            </a:r>
            <a:r>
              <a:rPr sz="700" spc="3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high</a:t>
            </a:r>
            <a:r>
              <a:rPr sz="700" spc="25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median;</a:t>
            </a:r>
            <a:r>
              <a:rPr sz="700" spc="25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driven</a:t>
            </a:r>
            <a:r>
              <a:rPr sz="700" spc="2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by</a:t>
            </a:r>
            <a:r>
              <a:rPr sz="700" spc="3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chronic</a:t>
            </a:r>
            <a:r>
              <a:rPr sz="700" spc="25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climate</a:t>
            </a:r>
            <a:r>
              <a:rPr sz="700" spc="25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cycles.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131464"/>
            <a:ext cx="5760085" cy="108585"/>
            <a:chOff x="0" y="3131464"/>
            <a:chExt cx="5760085" cy="108585"/>
          </a:xfrm>
        </p:grpSpPr>
        <p:sp>
          <p:nvSpPr>
            <p:cNvPr id="8" name="object 8"/>
            <p:cNvSpPr/>
            <p:nvPr/>
          </p:nvSpPr>
          <p:spPr>
            <a:xfrm>
              <a:off x="0" y="3131464"/>
              <a:ext cx="1728470" cy="108585"/>
            </a:xfrm>
            <a:custGeom>
              <a:avLst/>
              <a:gdLst/>
              <a:ahLst/>
              <a:cxnLst/>
              <a:rect l="l" t="t" r="r" b="b"/>
              <a:pathLst>
                <a:path w="1728470" h="108585">
                  <a:moveTo>
                    <a:pt x="1728012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1728012" y="10855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003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28012" y="3131464"/>
              <a:ext cx="2304415" cy="108585"/>
            </a:xfrm>
            <a:custGeom>
              <a:avLst/>
              <a:gdLst/>
              <a:ahLst/>
              <a:cxnLst/>
              <a:rect l="l" t="t" r="r" b="b"/>
              <a:pathLst>
                <a:path w="2304415" h="108585">
                  <a:moveTo>
                    <a:pt x="2303970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2303970" y="108559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31983" y="3131464"/>
              <a:ext cx="1728470" cy="108585"/>
            </a:xfrm>
            <a:custGeom>
              <a:avLst/>
              <a:gdLst/>
              <a:ahLst/>
              <a:cxnLst/>
              <a:rect l="l" t="t" r="r" b="b"/>
              <a:pathLst>
                <a:path w="1728470" h="108585">
                  <a:moveTo>
                    <a:pt x="1728012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1728012" y="10855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003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10" dirty="0"/>
              <a:t>Group</a:t>
            </a:r>
            <a:r>
              <a:rPr spc="105" dirty="0"/>
              <a:t> </a:t>
            </a:r>
            <a:r>
              <a:rPr spc="-25" dirty="0"/>
              <a:t>B11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120900" y="3131465"/>
            <a:ext cx="1307211" cy="89768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z="550" spc="20" dirty="0">
                <a:solidFill>
                  <a:srgbClr val="003874"/>
                </a:solidFill>
                <a:latin typeface="Times New Roman"/>
                <a:cs typeface="Times New Roman"/>
              </a:rPr>
              <a:t>Global Analysis of Acute Food Insecurity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5</a:t>
            </a:fld>
            <a:r>
              <a:rPr spc="-10" dirty="0"/>
              <a:t> </a:t>
            </a:r>
            <a:r>
              <a:rPr spc="100" dirty="0"/>
              <a:t>/</a:t>
            </a:r>
            <a:r>
              <a:rPr spc="-5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The</a:t>
            </a:r>
            <a:r>
              <a:rPr spc="-10" dirty="0"/>
              <a:t> </a:t>
            </a:r>
            <a:r>
              <a:rPr spc="50" dirty="0"/>
              <a:t>Fastest</a:t>
            </a:r>
            <a:r>
              <a:rPr spc="-10" dirty="0"/>
              <a:t> </a:t>
            </a:r>
            <a:r>
              <a:rPr spc="55" dirty="0"/>
              <a:t>Deterioration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-32" y="421334"/>
            <a:ext cx="5760085" cy="33655"/>
          </a:xfrm>
          <a:custGeom>
            <a:avLst/>
            <a:gdLst/>
            <a:ahLst/>
            <a:cxnLst/>
            <a:rect l="l" t="t" r="r" b="b"/>
            <a:pathLst>
              <a:path w="5760085" h="33654">
                <a:moveTo>
                  <a:pt x="5760073" y="0"/>
                </a:moveTo>
                <a:lnTo>
                  <a:pt x="0" y="0"/>
                </a:lnTo>
                <a:lnTo>
                  <a:pt x="0" y="33402"/>
                </a:lnTo>
                <a:lnTo>
                  <a:pt x="5760073" y="33402"/>
                </a:lnTo>
                <a:lnTo>
                  <a:pt x="5760073" y="0"/>
                </a:lnTo>
                <a:close/>
              </a:path>
            </a:pathLst>
          </a:custGeom>
          <a:solidFill>
            <a:srgbClr val="0038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3158" y="493693"/>
            <a:ext cx="4768850" cy="62039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53670" indent="-115570">
              <a:lnSpc>
                <a:spcPct val="100000"/>
              </a:lnSpc>
              <a:spcBef>
                <a:spcPts val="495"/>
              </a:spcBef>
              <a:buClr>
                <a:srgbClr val="003874"/>
              </a:buClr>
              <a:buFont typeface="Times New Roman"/>
              <a:buChar char="•"/>
              <a:tabLst>
                <a:tab pos="153670" algn="l"/>
              </a:tabLst>
            </a:pPr>
            <a:r>
              <a:rPr sz="700" b="1" spc="20" dirty="0">
                <a:latin typeface="Cambria"/>
                <a:cs typeface="Cambria"/>
              </a:rPr>
              <a:t>Key</a:t>
            </a:r>
            <a:r>
              <a:rPr sz="700" b="1" spc="10" dirty="0">
                <a:latin typeface="Cambria"/>
                <a:cs typeface="Cambria"/>
              </a:rPr>
              <a:t> </a:t>
            </a:r>
            <a:r>
              <a:rPr sz="700" b="1" spc="20" dirty="0">
                <a:latin typeface="Cambria"/>
                <a:cs typeface="Cambria"/>
              </a:rPr>
              <a:t>Insight</a:t>
            </a:r>
            <a:r>
              <a:rPr sz="700" spc="20" dirty="0">
                <a:latin typeface="Times New Roman"/>
                <a:cs typeface="Times New Roman"/>
              </a:rPr>
              <a:t>:</a:t>
            </a:r>
            <a:r>
              <a:rPr sz="700" spc="45" dirty="0">
                <a:latin typeface="Times New Roman"/>
                <a:cs typeface="Times New Roman"/>
              </a:rPr>
              <a:t> </a:t>
            </a:r>
            <a:r>
              <a:rPr sz="700" spc="30" dirty="0">
                <a:latin typeface="Times New Roman"/>
                <a:cs typeface="Times New Roman"/>
              </a:rPr>
              <a:t>Identifying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where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the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situation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spc="30" dirty="0">
                <a:latin typeface="Times New Roman"/>
                <a:cs typeface="Times New Roman"/>
              </a:rPr>
              <a:t>is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worsening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70" dirty="0">
                <a:latin typeface="Times New Roman"/>
                <a:cs typeface="Times New Roman"/>
              </a:rPr>
              <a:t>most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rapidly.</a:t>
            </a:r>
            <a:endParaRPr sz="700">
              <a:latin typeface="Times New Roman"/>
              <a:cs typeface="Times New Roman"/>
            </a:endParaRPr>
          </a:p>
          <a:p>
            <a:pPr marL="153670" marR="30480" indent="-116205">
              <a:lnSpc>
                <a:spcPct val="112700"/>
              </a:lnSpc>
              <a:spcBef>
                <a:spcPts val="300"/>
              </a:spcBef>
              <a:buClr>
                <a:srgbClr val="003874"/>
              </a:buClr>
              <a:buFont typeface="Times New Roman"/>
              <a:buChar char="•"/>
              <a:tabLst>
                <a:tab pos="153670" algn="l"/>
              </a:tabLst>
            </a:pPr>
            <a:r>
              <a:rPr sz="700" b="1" dirty="0">
                <a:latin typeface="Cambria"/>
                <a:cs typeface="Cambria"/>
              </a:rPr>
              <a:t>The</a:t>
            </a:r>
            <a:r>
              <a:rPr sz="700" b="1" spc="60" dirty="0">
                <a:latin typeface="Cambria"/>
                <a:cs typeface="Cambria"/>
              </a:rPr>
              <a:t> </a:t>
            </a:r>
            <a:r>
              <a:rPr sz="700" b="1" dirty="0">
                <a:latin typeface="Cambria"/>
                <a:cs typeface="Cambria"/>
              </a:rPr>
              <a:t>Metric</a:t>
            </a:r>
            <a:r>
              <a:rPr sz="700" dirty="0">
                <a:latin typeface="Times New Roman"/>
                <a:cs typeface="Times New Roman"/>
              </a:rPr>
              <a:t>: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We</a:t>
            </a:r>
            <a:r>
              <a:rPr sz="700" spc="60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calculated</a:t>
            </a:r>
            <a:r>
              <a:rPr sz="700" spc="6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the</a:t>
            </a:r>
            <a:r>
              <a:rPr sz="700" spc="5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"Slope"</a:t>
            </a:r>
            <a:r>
              <a:rPr sz="700" spc="6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(rate</a:t>
            </a:r>
            <a:r>
              <a:rPr sz="700" spc="6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of</a:t>
            </a:r>
            <a:r>
              <a:rPr sz="700" spc="65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change) </a:t>
            </a:r>
            <a:r>
              <a:rPr sz="700" dirty="0">
                <a:latin typeface="Times New Roman"/>
                <a:cs typeface="Times New Roman"/>
              </a:rPr>
              <a:t>for</a:t>
            </a:r>
            <a:r>
              <a:rPr sz="700" spc="6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every</a:t>
            </a:r>
            <a:r>
              <a:rPr sz="700" spc="65" dirty="0">
                <a:latin typeface="Times New Roman"/>
                <a:cs typeface="Times New Roman"/>
              </a:rPr>
              <a:t> </a:t>
            </a:r>
            <a:r>
              <a:rPr sz="700" spc="45" dirty="0">
                <a:latin typeface="Times New Roman"/>
                <a:cs typeface="Times New Roman"/>
              </a:rPr>
              <a:t>country.</a:t>
            </a:r>
            <a:r>
              <a:rPr sz="700" spc="120" dirty="0">
                <a:latin typeface="Times New Roman"/>
                <a:cs typeface="Times New Roman"/>
              </a:rPr>
              <a:t> </a:t>
            </a:r>
            <a:r>
              <a:rPr sz="700" spc="-40" dirty="0">
                <a:latin typeface="Times New Roman"/>
                <a:cs typeface="Times New Roman"/>
              </a:rPr>
              <a:t>A</a:t>
            </a:r>
            <a:r>
              <a:rPr sz="700" spc="65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high</a:t>
            </a:r>
            <a:r>
              <a:rPr sz="700" spc="60" dirty="0">
                <a:latin typeface="Times New Roman"/>
                <a:cs typeface="Times New Roman"/>
              </a:rPr>
              <a:t> </a:t>
            </a:r>
            <a:r>
              <a:rPr sz="700" spc="45" dirty="0">
                <a:latin typeface="Times New Roman"/>
                <a:cs typeface="Times New Roman"/>
              </a:rPr>
              <a:t>positive</a:t>
            </a:r>
            <a:r>
              <a:rPr sz="700" spc="55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slope</a:t>
            </a:r>
            <a:r>
              <a:rPr sz="700" spc="65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indicates</a:t>
            </a:r>
            <a:r>
              <a:rPr sz="700" spc="60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rapid </a:t>
            </a:r>
            <a:r>
              <a:rPr sz="700" spc="40" dirty="0">
                <a:latin typeface="Times New Roman"/>
                <a:cs typeface="Times New Roman"/>
              </a:rPr>
              <a:t>deterioration.</a:t>
            </a:r>
            <a:endParaRPr sz="700">
              <a:latin typeface="Times New Roman"/>
              <a:cs typeface="Times New Roman"/>
            </a:endParaRPr>
          </a:p>
          <a:p>
            <a:pPr marL="153670" indent="-115570">
              <a:lnSpc>
                <a:spcPct val="100000"/>
              </a:lnSpc>
              <a:spcBef>
                <a:spcPts val="405"/>
              </a:spcBef>
              <a:buClr>
                <a:srgbClr val="003874"/>
              </a:buClr>
              <a:buFont typeface="Times New Roman"/>
              <a:buChar char="•"/>
              <a:tabLst>
                <a:tab pos="153670" algn="l"/>
              </a:tabLst>
            </a:pPr>
            <a:r>
              <a:rPr sz="700" b="1" dirty="0">
                <a:latin typeface="Cambria"/>
                <a:cs typeface="Cambria"/>
              </a:rPr>
              <a:t>Action</a:t>
            </a:r>
            <a:r>
              <a:rPr sz="700" b="1" spc="65" dirty="0">
                <a:latin typeface="Cambria"/>
                <a:cs typeface="Cambria"/>
              </a:rPr>
              <a:t> </a:t>
            </a:r>
            <a:r>
              <a:rPr sz="700" b="1" dirty="0">
                <a:latin typeface="Cambria"/>
                <a:cs typeface="Cambria"/>
              </a:rPr>
              <a:t>Required</a:t>
            </a:r>
            <a:r>
              <a:rPr sz="700" dirty="0">
                <a:latin typeface="Times New Roman"/>
                <a:cs typeface="Times New Roman"/>
              </a:rPr>
              <a:t>:</a:t>
            </a:r>
            <a:r>
              <a:rPr sz="700" spc="12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These</a:t>
            </a:r>
            <a:r>
              <a:rPr sz="700" spc="65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countries</a:t>
            </a:r>
            <a:r>
              <a:rPr sz="700" spc="70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require</a:t>
            </a:r>
            <a:r>
              <a:rPr sz="700" spc="6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preventive</a:t>
            </a:r>
            <a:r>
              <a:rPr sz="700" spc="65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intervention</a:t>
            </a:r>
            <a:r>
              <a:rPr sz="700" spc="60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before</a:t>
            </a:r>
            <a:r>
              <a:rPr sz="700" spc="65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they</a:t>
            </a:r>
            <a:r>
              <a:rPr sz="700" spc="70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hit</a:t>
            </a:r>
            <a:r>
              <a:rPr sz="700" spc="65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famine </a:t>
            </a:r>
            <a:r>
              <a:rPr sz="700" spc="-10" dirty="0">
                <a:latin typeface="Times New Roman"/>
                <a:cs typeface="Times New Roman"/>
              </a:rPr>
              <a:t>levels.</a:t>
            </a:r>
            <a:endParaRPr sz="7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9016" y="1294116"/>
            <a:ext cx="3224663" cy="164203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131464"/>
            <a:ext cx="5760085" cy="108585"/>
            <a:chOff x="0" y="3131464"/>
            <a:chExt cx="5760085" cy="108585"/>
          </a:xfrm>
        </p:grpSpPr>
        <p:sp>
          <p:nvSpPr>
            <p:cNvPr id="7" name="object 7"/>
            <p:cNvSpPr/>
            <p:nvPr/>
          </p:nvSpPr>
          <p:spPr>
            <a:xfrm>
              <a:off x="0" y="3131464"/>
              <a:ext cx="1728470" cy="108585"/>
            </a:xfrm>
            <a:custGeom>
              <a:avLst/>
              <a:gdLst/>
              <a:ahLst/>
              <a:cxnLst/>
              <a:rect l="l" t="t" r="r" b="b"/>
              <a:pathLst>
                <a:path w="1728470" h="108585">
                  <a:moveTo>
                    <a:pt x="1728012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1728012" y="10855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003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28012" y="3131464"/>
              <a:ext cx="2304415" cy="108585"/>
            </a:xfrm>
            <a:custGeom>
              <a:avLst/>
              <a:gdLst/>
              <a:ahLst/>
              <a:cxnLst/>
              <a:rect l="l" t="t" r="r" b="b"/>
              <a:pathLst>
                <a:path w="2304415" h="108585">
                  <a:moveTo>
                    <a:pt x="2303970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2303970" y="108559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31983" y="3131464"/>
              <a:ext cx="1728470" cy="108585"/>
            </a:xfrm>
            <a:custGeom>
              <a:avLst/>
              <a:gdLst/>
              <a:ahLst/>
              <a:cxnLst/>
              <a:rect l="l" t="t" r="r" b="b"/>
              <a:pathLst>
                <a:path w="1728470" h="108585">
                  <a:moveTo>
                    <a:pt x="1728012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1728012" y="10855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003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10" dirty="0"/>
              <a:t>Group</a:t>
            </a:r>
            <a:r>
              <a:rPr spc="105" dirty="0"/>
              <a:t> </a:t>
            </a:r>
            <a:r>
              <a:rPr spc="-25" dirty="0"/>
              <a:t>B11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120900" y="3131465"/>
            <a:ext cx="1307211" cy="89768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z="550" spc="20" dirty="0">
                <a:solidFill>
                  <a:srgbClr val="003874"/>
                </a:solidFill>
                <a:latin typeface="Times New Roman"/>
                <a:cs typeface="Times New Roman"/>
              </a:rPr>
              <a:t>Global Analysis of Acute Food Insecurity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6</a:t>
            </a:fld>
            <a:r>
              <a:rPr spc="-10" dirty="0"/>
              <a:t> </a:t>
            </a:r>
            <a:r>
              <a:rPr spc="100" dirty="0"/>
              <a:t>/</a:t>
            </a:r>
            <a:r>
              <a:rPr spc="-5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/>
              <a:t>Signs</a:t>
            </a:r>
            <a:r>
              <a:rPr spc="40" dirty="0"/>
              <a:t> </a:t>
            </a:r>
            <a:r>
              <a:rPr spc="20" dirty="0"/>
              <a:t>of</a:t>
            </a:r>
            <a:r>
              <a:rPr spc="40" dirty="0"/>
              <a:t> </a:t>
            </a:r>
            <a:r>
              <a:rPr spc="20" dirty="0"/>
              <a:t>Resilience:</a:t>
            </a:r>
            <a:r>
              <a:rPr spc="120" dirty="0"/>
              <a:t> </a:t>
            </a:r>
            <a:r>
              <a:rPr spc="55" dirty="0"/>
              <a:t>Learning</a:t>
            </a:r>
            <a:r>
              <a:rPr spc="40" dirty="0"/>
              <a:t> </a:t>
            </a:r>
            <a:r>
              <a:rPr spc="65" dirty="0"/>
              <a:t>from</a:t>
            </a:r>
            <a:r>
              <a:rPr spc="45" dirty="0"/>
              <a:t> </a:t>
            </a:r>
            <a:r>
              <a:rPr spc="-10" dirty="0"/>
              <a:t>Recovery</a:t>
            </a:r>
          </a:p>
        </p:txBody>
      </p:sp>
      <p:sp>
        <p:nvSpPr>
          <p:cNvPr id="3" name="object 3"/>
          <p:cNvSpPr/>
          <p:nvPr/>
        </p:nvSpPr>
        <p:spPr>
          <a:xfrm>
            <a:off x="-32" y="421334"/>
            <a:ext cx="5760085" cy="33655"/>
          </a:xfrm>
          <a:custGeom>
            <a:avLst/>
            <a:gdLst/>
            <a:ahLst/>
            <a:cxnLst/>
            <a:rect l="l" t="t" r="r" b="b"/>
            <a:pathLst>
              <a:path w="5760085" h="33654">
                <a:moveTo>
                  <a:pt x="5760073" y="0"/>
                </a:moveTo>
                <a:lnTo>
                  <a:pt x="0" y="0"/>
                </a:lnTo>
                <a:lnTo>
                  <a:pt x="0" y="33402"/>
                </a:lnTo>
                <a:lnTo>
                  <a:pt x="5760073" y="33402"/>
                </a:lnTo>
                <a:lnTo>
                  <a:pt x="5760073" y="0"/>
                </a:lnTo>
                <a:close/>
              </a:path>
            </a:pathLst>
          </a:custGeom>
          <a:solidFill>
            <a:srgbClr val="0038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1418" y="469015"/>
            <a:ext cx="3997325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30" dirty="0">
                <a:solidFill>
                  <a:srgbClr val="003874"/>
                </a:solidFill>
                <a:latin typeface="Times New Roman"/>
                <a:cs typeface="Times New Roman"/>
              </a:rPr>
              <a:t>Table</a:t>
            </a:r>
            <a:r>
              <a:rPr sz="900" spc="15" dirty="0">
                <a:solidFill>
                  <a:srgbClr val="003874"/>
                </a:solidFill>
                <a:latin typeface="Times New Roman"/>
                <a:cs typeface="Times New Roman"/>
              </a:rPr>
              <a:t> </a:t>
            </a:r>
            <a:r>
              <a:rPr sz="900" spc="30" dirty="0">
                <a:solidFill>
                  <a:srgbClr val="003874"/>
                </a:solidFill>
                <a:latin typeface="Times New Roman"/>
                <a:cs typeface="Times New Roman"/>
              </a:rPr>
              <a:t>1:</a:t>
            </a:r>
            <a:r>
              <a:rPr sz="900" spc="20" dirty="0">
                <a:solidFill>
                  <a:srgbClr val="003874"/>
                </a:solidFill>
                <a:latin typeface="Times New Roman"/>
                <a:cs typeface="Times New Roman"/>
              </a:rPr>
              <a:t> </a:t>
            </a:r>
            <a:r>
              <a:rPr sz="900" spc="60" dirty="0">
                <a:latin typeface="Times New Roman"/>
                <a:cs typeface="Times New Roman"/>
              </a:rPr>
              <a:t>Countries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45" dirty="0">
                <a:latin typeface="Times New Roman"/>
                <a:cs typeface="Times New Roman"/>
              </a:rPr>
              <a:t>Showing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50" dirty="0">
                <a:latin typeface="Times New Roman"/>
                <a:cs typeface="Times New Roman"/>
              </a:rPr>
              <a:t>Strongest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Times New Roman"/>
                <a:cs typeface="Times New Roman"/>
              </a:rPr>
              <a:t>Evidence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Times New Roman"/>
                <a:cs typeface="Times New Roman"/>
              </a:rPr>
              <a:t>of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Times New Roman"/>
                <a:cs typeface="Times New Roman"/>
              </a:rPr>
              <a:t>Recovery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Times New Roman"/>
                <a:cs typeface="Times New Roman"/>
              </a:rPr>
              <a:t>(Negative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Slope)</a:t>
            </a:r>
            <a:endParaRPr sz="9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43837" y="730529"/>
          <a:ext cx="3072765" cy="18967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000" b="1" spc="-20" dirty="0">
                          <a:latin typeface="Cambria"/>
                          <a:cs typeface="Cambria"/>
                        </a:rPr>
                        <a:t>Rank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0"/>
                        </a:lnSpc>
                      </a:pPr>
                      <a:r>
                        <a:rPr sz="1000" b="1" spc="-10" dirty="0">
                          <a:latin typeface="Cambria"/>
                          <a:cs typeface="Cambria"/>
                        </a:rPr>
                        <a:t>Country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000" b="1" spc="-10" dirty="0">
                          <a:latin typeface="Cambria"/>
                          <a:cs typeface="Cambria"/>
                        </a:rPr>
                        <a:t>Recovery</a:t>
                      </a:r>
                      <a:r>
                        <a:rPr sz="1000" b="1" spc="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000" b="1" spc="-10" dirty="0">
                          <a:latin typeface="Cambria"/>
                          <a:cs typeface="Cambria"/>
                        </a:rPr>
                        <a:t>Slope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0"/>
                        </a:lnSpc>
                      </a:pPr>
                      <a:r>
                        <a:rPr sz="1000" spc="40" dirty="0">
                          <a:latin typeface="Times New Roman"/>
                          <a:cs typeface="Times New Roman"/>
                        </a:rPr>
                        <a:t>Pakistan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2.950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00"/>
                        </a:lnSpc>
                      </a:pPr>
                      <a:r>
                        <a:rPr sz="1000" spc="45" dirty="0">
                          <a:latin typeface="Times New Roman"/>
                          <a:cs typeface="Times New Roman"/>
                        </a:rPr>
                        <a:t>Madagascar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1.203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0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Sierra</a:t>
                      </a:r>
                      <a:r>
                        <a:rPr sz="1000" spc="1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Leone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0.321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00"/>
                        </a:lnSpc>
                      </a:pPr>
                      <a:r>
                        <a:rPr sz="1000" spc="55" dirty="0">
                          <a:latin typeface="Times New Roman"/>
                          <a:cs typeface="Times New Roman"/>
                        </a:rPr>
                        <a:t>Burundi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0.311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00"/>
                        </a:lnSpc>
                      </a:pPr>
                      <a:r>
                        <a:rPr sz="1000" spc="45" dirty="0">
                          <a:latin typeface="Times New Roman"/>
                          <a:cs typeface="Times New Roman"/>
                        </a:rPr>
                        <a:t>Guinea-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Bissau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0.255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0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Yemen,</a:t>
                      </a:r>
                      <a:r>
                        <a:rPr sz="1000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Rep.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0.250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00"/>
                        </a:lnSpc>
                      </a:pPr>
                      <a:r>
                        <a:rPr sz="1000" spc="45" dirty="0">
                          <a:latin typeface="Times New Roman"/>
                          <a:cs typeface="Times New Roman"/>
                        </a:rPr>
                        <a:t>Burkina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Faso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0.214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00"/>
                        </a:lnSpc>
                      </a:pPr>
                      <a:r>
                        <a:rPr sz="1000" spc="50" dirty="0">
                          <a:latin typeface="Times New Roman"/>
                          <a:cs typeface="Times New Roman"/>
                        </a:rPr>
                        <a:t>Central</a:t>
                      </a:r>
                      <a:r>
                        <a:rPr sz="10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African</a:t>
                      </a:r>
                      <a:r>
                        <a:rPr sz="10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Republic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0.150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00"/>
                        </a:lnSpc>
                      </a:pP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Kenya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0.126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00"/>
                        </a:lnSpc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Afghanistan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0.031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83158" y="2739789"/>
            <a:ext cx="4624070" cy="3206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53670" indent="-115570">
              <a:lnSpc>
                <a:spcPct val="100000"/>
              </a:lnSpc>
              <a:spcBef>
                <a:spcPts val="414"/>
              </a:spcBef>
              <a:buClr>
                <a:srgbClr val="003874"/>
              </a:buClr>
              <a:buFont typeface="Times New Roman"/>
              <a:buChar char="•"/>
              <a:tabLst>
                <a:tab pos="153670" algn="l"/>
              </a:tabLst>
            </a:pPr>
            <a:r>
              <a:rPr sz="700" b="1" spc="20" dirty="0">
                <a:latin typeface="Cambria"/>
                <a:cs typeface="Cambria"/>
              </a:rPr>
              <a:t>Key</a:t>
            </a:r>
            <a:r>
              <a:rPr sz="700" b="1" spc="10" dirty="0">
                <a:latin typeface="Cambria"/>
                <a:cs typeface="Cambria"/>
              </a:rPr>
              <a:t> </a:t>
            </a:r>
            <a:r>
              <a:rPr sz="700" b="1" spc="20" dirty="0">
                <a:latin typeface="Cambria"/>
                <a:cs typeface="Cambria"/>
              </a:rPr>
              <a:t>Insight</a:t>
            </a:r>
            <a:r>
              <a:rPr sz="700" spc="20" dirty="0">
                <a:latin typeface="Times New Roman"/>
                <a:cs typeface="Times New Roman"/>
              </a:rPr>
              <a:t>:</a:t>
            </a:r>
            <a:r>
              <a:rPr sz="700" spc="50" dirty="0">
                <a:latin typeface="Times New Roman"/>
                <a:cs typeface="Times New Roman"/>
              </a:rPr>
              <a:t> </a:t>
            </a:r>
            <a:r>
              <a:rPr sz="700" spc="30" dirty="0">
                <a:latin typeface="Times New Roman"/>
                <a:cs typeface="Times New Roman"/>
              </a:rPr>
              <a:t>Statistical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evidence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that</a:t>
            </a:r>
            <a:r>
              <a:rPr sz="700" spc="5" dirty="0">
                <a:latin typeface="Times New Roman"/>
                <a:cs typeface="Times New Roman"/>
              </a:rPr>
              <a:t> </a:t>
            </a:r>
            <a:r>
              <a:rPr sz="700" spc="30" dirty="0">
                <a:latin typeface="Times New Roman"/>
                <a:cs typeface="Times New Roman"/>
              </a:rPr>
              <a:t>recovery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30" dirty="0">
                <a:latin typeface="Times New Roman"/>
                <a:cs typeface="Times New Roman"/>
              </a:rPr>
              <a:t>is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possible.</a:t>
            </a:r>
            <a:endParaRPr sz="700" dirty="0">
              <a:latin typeface="Times New Roman"/>
              <a:cs typeface="Times New Roman"/>
            </a:endParaRPr>
          </a:p>
          <a:p>
            <a:pPr marL="153670" indent="-115570">
              <a:lnSpc>
                <a:spcPct val="100000"/>
              </a:lnSpc>
              <a:spcBef>
                <a:spcPts val="320"/>
              </a:spcBef>
              <a:buClr>
                <a:srgbClr val="003874"/>
              </a:buClr>
              <a:buFont typeface="Times New Roman"/>
              <a:buChar char="•"/>
              <a:tabLst>
                <a:tab pos="153670" algn="l"/>
              </a:tabLst>
            </a:pPr>
            <a:r>
              <a:rPr sz="700" b="1" dirty="0">
                <a:latin typeface="Cambria"/>
                <a:cs typeface="Cambria"/>
              </a:rPr>
              <a:t>The</a:t>
            </a:r>
            <a:r>
              <a:rPr sz="700" b="1" spc="15" dirty="0">
                <a:latin typeface="Cambria"/>
                <a:cs typeface="Cambria"/>
              </a:rPr>
              <a:t> </a:t>
            </a:r>
            <a:r>
              <a:rPr sz="700" b="1" dirty="0">
                <a:latin typeface="Cambria"/>
                <a:cs typeface="Cambria"/>
              </a:rPr>
              <a:t>Metric</a:t>
            </a:r>
            <a:r>
              <a:rPr sz="700" dirty="0">
                <a:latin typeface="Times New Roman"/>
                <a:cs typeface="Times New Roman"/>
              </a:rPr>
              <a:t>:</a:t>
            </a:r>
            <a:r>
              <a:rPr sz="700" spc="55" dirty="0">
                <a:latin typeface="Times New Roman"/>
                <a:cs typeface="Times New Roman"/>
              </a:rPr>
              <a:t> </a:t>
            </a:r>
            <a:r>
              <a:rPr sz="700" spc="-40" dirty="0">
                <a:latin typeface="Times New Roman"/>
                <a:cs typeface="Times New Roman"/>
              </a:rPr>
              <a:t>A</a:t>
            </a:r>
            <a:r>
              <a:rPr sz="700" spc="15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negative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slope</a:t>
            </a:r>
            <a:r>
              <a:rPr sz="700" spc="15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indicates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a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consistent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reduction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in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the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percentage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of</a:t>
            </a:r>
            <a:r>
              <a:rPr sz="700" spc="15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the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population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in</a:t>
            </a:r>
            <a:r>
              <a:rPr sz="700" spc="1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crisis.</a:t>
            </a:r>
            <a:endParaRPr sz="700" dirty="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131464"/>
            <a:ext cx="5760085" cy="108585"/>
            <a:chOff x="0" y="3131464"/>
            <a:chExt cx="5760085" cy="108585"/>
          </a:xfrm>
        </p:grpSpPr>
        <p:sp>
          <p:nvSpPr>
            <p:cNvPr id="8" name="object 8"/>
            <p:cNvSpPr/>
            <p:nvPr/>
          </p:nvSpPr>
          <p:spPr>
            <a:xfrm>
              <a:off x="0" y="3131464"/>
              <a:ext cx="1728470" cy="108585"/>
            </a:xfrm>
            <a:custGeom>
              <a:avLst/>
              <a:gdLst/>
              <a:ahLst/>
              <a:cxnLst/>
              <a:rect l="l" t="t" r="r" b="b"/>
              <a:pathLst>
                <a:path w="1728470" h="108585">
                  <a:moveTo>
                    <a:pt x="1728012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1728012" y="10855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003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28012" y="3131464"/>
              <a:ext cx="2304415" cy="108585"/>
            </a:xfrm>
            <a:custGeom>
              <a:avLst/>
              <a:gdLst/>
              <a:ahLst/>
              <a:cxnLst/>
              <a:rect l="l" t="t" r="r" b="b"/>
              <a:pathLst>
                <a:path w="2304415" h="108585">
                  <a:moveTo>
                    <a:pt x="2303970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2303970" y="108559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31983" y="3131464"/>
              <a:ext cx="1728470" cy="108585"/>
            </a:xfrm>
            <a:custGeom>
              <a:avLst/>
              <a:gdLst/>
              <a:ahLst/>
              <a:cxnLst/>
              <a:rect l="l" t="t" r="r" b="b"/>
              <a:pathLst>
                <a:path w="1728470" h="108585">
                  <a:moveTo>
                    <a:pt x="1728012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1728012" y="10855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003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10" dirty="0"/>
              <a:t>Group</a:t>
            </a:r>
            <a:r>
              <a:rPr spc="105" dirty="0"/>
              <a:t> </a:t>
            </a:r>
            <a:r>
              <a:rPr spc="-25" dirty="0"/>
              <a:t>B11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120900" y="3131465"/>
            <a:ext cx="1307211" cy="89768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z="550" spc="20" dirty="0">
                <a:solidFill>
                  <a:srgbClr val="003874"/>
                </a:solidFill>
                <a:latin typeface="Times New Roman"/>
                <a:cs typeface="Times New Roman"/>
              </a:rPr>
              <a:t>Global Analysis of Acute Food Insecurity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7</a:t>
            </a:fld>
            <a:r>
              <a:rPr spc="-10" dirty="0"/>
              <a:t> </a:t>
            </a:r>
            <a:r>
              <a:rPr spc="100" dirty="0"/>
              <a:t>/</a:t>
            </a:r>
            <a:r>
              <a:rPr spc="-5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Conclusion</a:t>
            </a:r>
            <a:r>
              <a:rPr spc="-15" dirty="0"/>
              <a:t> </a:t>
            </a:r>
            <a:r>
              <a:rPr spc="-80" dirty="0"/>
              <a:t>&amp;</a:t>
            </a:r>
            <a:r>
              <a:rPr spc="-10" dirty="0"/>
              <a:t> </a:t>
            </a:r>
            <a:r>
              <a:rPr spc="70" dirty="0"/>
              <a:t>Recommendations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-32" y="421334"/>
            <a:ext cx="5760085" cy="33655"/>
          </a:xfrm>
          <a:custGeom>
            <a:avLst/>
            <a:gdLst/>
            <a:ahLst/>
            <a:cxnLst/>
            <a:rect l="l" t="t" r="r" b="b"/>
            <a:pathLst>
              <a:path w="5760085" h="33654">
                <a:moveTo>
                  <a:pt x="5760073" y="0"/>
                </a:moveTo>
                <a:lnTo>
                  <a:pt x="0" y="0"/>
                </a:lnTo>
                <a:lnTo>
                  <a:pt x="0" y="33402"/>
                </a:lnTo>
                <a:lnTo>
                  <a:pt x="5760073" y="33402"/>
                </a:lnTo>
                <a:lnTo>
                  <a:pt x="5760073" y="0"/>
                </a:lnTo>
                <a:close/>
              </a:path>
            </a:pathLst>
          </a:custGeom>
          <a:solidFill>
            <a:srgbClr val="0038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1894" y="560670"/>
            <a:ext cx="4958715" cy="233870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0"/>
              </a:spcBef>
            </a:pPr>
            <a:r>
              <a:rPr sz="1000" b="1" spc="-10" dirty="0">
                <a:latin typeface="Cambria"/>
                <a:cs typeface="Cambria"/>
              </a:rPr>
              <a:t>Summary:</a:t>
            </a:r>
            <a:endParaRPr sz="1000" dirty="0">
              <a:latin typeface="Cambria"/>
              <a:cs typeface="Cambria"/>
            </a:endParaRPr>
          </a:p>
          <a:p>
            <a:pPr marL="314325" indent="-132715">
              <a:lnSpc>
                <a:spcPct val="100000"/>
              </a:lnSpc>
              <a:spcBef>
                <a:spcPts val="455"/>
              </a:spcBef>
              <a:buClr>
                <a:srgbClr val="003874"/>
              </a:buClr>
              <a:buFont typeface="Times New Roman"/>
              <a:buChar char="•"/>
              <a:tabLst>
                <a:tab pos="314325" algn="l"/>
              </a:tabLst>
            </a:pPr>
            <a:r>
              <a:rPr sz="1000" b="1" dirty="0">
                <a:latin typeface="Cambria"/>
                <a:cs typeface="Cambria"/>
              </a:rPr>
              <a:t>Volatility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The</a:t>
            </a:r>
            <a:r>
              <a:rPr sz="100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crisis is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driven</a:t>
            </a:r>
            <a:r>
              <a:rPr sz="100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by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shocks,</a:t>
            </a:r>
            <a:r>
              <a:rPr sz="1000" dirty="0">
                <a:latin typeface="Times New Roman"/>
                <a:cs typeface="Times New Roman"/>
              </a:rPr>
              <a:t> </a:t>
            </a:r>
            <a:r>
              <a:rPr sz="1000" spc="85" dirty="0">
                <a:latin typeface="Times New Roman"/>
                <a:cs typeface="Times New Roman"/>
              </a:rPr>
              <a:t>not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85" dirty="0">
                <a:latin typeface="Times New Roman"/>
                <a:cs typeface="Times New Roman"/>
              </a:rPr>
              <a:t>smooth</a:t>
            </a:r>
            <a:r>
              <a:rPr sz="1000" dirty="0">
                <a:latin typeface="Times New Roman"/>
                <a:cs typeface="Times New Roman"/>
              </a:rPr>
              <a:t> </a:t>
            </a:r>
            <a:r>
              <a:rPr sz="1000" spc="45" dirty="0">
                <a:latin typeface="Times New Roman"/>
                <a:cs typeface="Times New Roman"/>
              </a:rPr>
              <a:t>trends.</a:t>
            </a:r>
            <a:endParaRPr sz="1000" dirty="0">
              <a:latin typeface="Times New Roman"/>
              <a:cs typeface="Times New Roman"/>
            </a:endParaRPr>
          </a:p>
          <a:p>
            <a:pPr marL="314960" marR="146685" indent="-133350">
              <a:lnSpc>
                <a:spcPct val="112900"/>
              </a:lnSpc>
              <a:spcBef>
                <a:spcPts val="300"/>
              </a:spcBef>
              <a:buClr>
                <a:srgbClr val="003874"/>
              </a:buClr>
              <a:buFont typeface="Times New Roman"/>
              <a:buChar char="•"/>
              <a:tabLst>
                <a:tab pos="314960" algn="l"/>
              </a:tabLst>
            </a:pPr>
            <a:r>
              <a:rPr sz="1000" b="1" spc="20" dirty="0">
                <a:latin typeface="Cambria"/>
                <a:cs typeface="Cambria"/>
              </a:rPr>
              <a:t>Duality</a:t>
            </a:r>
            <a:r>
              <a:rPr sz="1000" spc="20" dirty="0">
                <a:latin typeface="Times New Roman"/>
                <a:cs typeface="Times New Roman"/>
              </a:rPr>
              <a:t>: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The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crisis </a:t>
            </a:r>
            <a:r>
              <a:rPr sz="1000" spc="75" dirty="0">
                <a:latin typeface="Times New Roman"/>
                <a:cs typeface="Times New Roman"/>
              </a:rPr>
              <a:t>has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spc="65" dirty="0">
                <a:latin typeface="Times New Roman"/>
                <a:cs typeface="Times New Roman"/>
              </a:rPr>
              <a:t>two</a:t>
            </a:r>
            <a:r>
              <a:rPr sz="1000" spc="20" dirty="0">
                <a:latin typeface="Times New Roman"/>
                <a:cs typeface="Times New Roman"/>
              </a:rPr>
              <a:t> facesVolume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(Logistics)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vs.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Intensity</a:t>
            </a:r>
            <a:r>
              <a:rPr sz="1000" spc="20" dirty="0">
                <a:latin typeface="Times New Roman"/>
                <a:cs typeface="Times New Roman"/>
              </a:rPr>
              <a:t> (Urgency).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We </a:t>
            </a:r>
            <a:r>
              <a:rPr sz="1000" spc="80" dirty="0">
                <a:latin typeface="Times New Roman"/>
                <a:cs typeface="Times New Roman"/>
              </a:rPr>
              <a:t>cannot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treat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95" dirty="0">
                <a:latin typeface="Times New Roman"/>
                <a:cs typeface="Times New Roman"/>
              </a:rPr>
              <a:t>them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80" dirty="0">
                <a:latin typeface="Times New Roman"/>
                <a:cs typeface="Times New Roman"/>
              </a:rPr>
              <a:t>the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same.</a:t>
            </a:r>
            <a:endParaRPr sz="1000" dirty="0">
              <a:latin typeface="Times New Roman"/>
              <a:cs typeface="Times New Roman"/>
            </a:endParaRPr>
          </a:p>
          <a:p>
            <a:pPr marL="314960" marR="30480" indent="-133350">
              <a:lnSpc>
                <a:spcPct val="112900"/>
              </a:lnSpc>
              <a:spcBef>
                <a:spcPts val="300"/>
              </a:spcBef>
              <a:buClr>
                <a:srgbClr val="003874"/>
              </a:buClr>
              <a:buFont typeface="Times New Roman"/>
              <a:buChar char="•"/>
              <a:tabLst>
                <a:tab pos="314960" algn="l"/>
              </a:tabLst>
            </a:pPr>
            <a:r>
              <a:rPr sz="1000" b="1" dirty="0">
                <a:latin typeface="Cambria"/>
                <a:cs typeface="Cambria"/>
              </a:rPr>
              <a:t>Geography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Solutions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90" dirty="0">
                <a:latin typeface="Times New Roman"/>
                <a:cs typeface="Times New Roman"/>
              </a:rPr>
              <a:t>must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spc="80" dirty="0">
                <a:latin typeface="Times New Roman"/>
                <a:cs typeface="Times New Roman"/>
              </a:rPr>
              <a:t>be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regionally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45" dirty="0">
                <a:latin typeface="Times New Roman"/>
                <a:cs typeface="Times New Roman"/>
              </a:rPr>
              <a:t>tailored;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West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Africa’s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instability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differs </a:t>
            </a:r>
            <a:r>
              <a:rPr sz="1000" spc="60" dirty="0">
                <a:latin typeface="Times New Roman"/>
                <a:cs typeface="Times New Roman"/>
              </a:rPr>
              <a:t>from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East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Africa’s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climate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cycles.</a:t>
            </a:r>
            <a:endParaRPr sz="10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450"/>
              </a:spcBef>
            </a:pPr>
            <a:r>
              <a:rPr sz="1000" b="1" spc="-10" dirty="0">
                <a:latin typeface="Cambria"/>
                <a:cs typeface="Cambria"/>
              </a:rPr>
              <a:t>Recommendations:</a:t>
            </a:r>
            <a:endParaRPr sz="1000" dirty="0">
              <a:latin typeface="Cambria"/>
              <a:cs typeface="Cambria"/>
            </a:endParaRPr>
          </a:p>
          <a:p>
            <a:pPr marL="314960" marR="350520" indent="-133350">
              <a:lnSpc>
                <a:spcPct val="112900"/>
              </a:lnSpc>
              <a:spcBef>
                <a:spcPts val="300"/>
              </a:spcBef>
              <a:buClr>
                <a:srgbClr val="003874"/>
              </a:buClr>
              <a:buFont typeface="Times New Roman"/>
              <a:buChar char="•"/>
              <a:tabLst>
                <a:tab pos="314960" algn="l"/>
              </a:tabLst>
            </a:pPr>
            <a:r>
              <a:rPr sz="1000" b="1" dirty="0">
                <a:latin typeface="Cambria"/>
                <a:cs typeface="Cambria"/>
              </a:rPr>
              <a:t>Agile</a:t>
            </a:r>
            <a:r>
              <a:rPr sz="1000" b="1" spc="35" dirty="0">
                <a:latin typeface="Cambria"/>
                <a:cs typeface="Cambria"/>
              </a:rPr>
              <a:t> </a:t>
            </a:r>
            <a:r>
              <a:rPr sz="1000" b="1" dirty="0">
                <a:latin typeface="Cambria"/>
                <a:cs typeface="Cambria"/>
              </a:rPr>
              <a:t>Funding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Move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away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from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static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spc="80" dirty="0">
                <a:latin typeface="Times New Roman"/>
                <a:cs typeface="Times New Roman"/>
              </a:rPr>
              <a:t>annual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spc="70" dirty="0">
                <a:latin typeface="Times New Roman"/>
                <a:cs typeface="Times New Roman"/>
              </a:rPr>
              <a:t>budgets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spc="70" dirty="0">
                <a:latin typeface="Times New Roman"/>
                <a:cs typeface="Times New Roman"/>
              </a:rPr>
              <a:t>to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spc="55" dirty="0">
                <a:latin typeface="Times New Roman"/>
                <a:cs typeface="Times New Roman"/>
              </a:rPr>
              <a:t>shock-</a:t>
            </a:r>
            <a:r>
              <a:rPr sz="1000" spc="45" dirty="0">
                <a:latin typeface="Times New Roman"/>
                <a:cs typeface="Times New Roman"/>
              </a:rPr>
              <a:t>responsive </a:t>
            </a:r>
            <a:r>
              <a:rPr sz="1000" spc="55" dirty="0">
                <a:latin typeface="Times New Roman"/>
                <a:cs typeface="Times New Roman"/>
              </a:rPr>
              <a:t>financing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spc="75" dirty="0">
                <a:latin typeface="Times New Roman"/>
                <a:cs typeface="Times New Roman"/>
              </a:rPr>
              <a:t>that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spc="75" dirty="0">
                <a:latin typeface="Times New Roman"/>
                <a:cs typeface="Times New Roman"/>
              </a:rPr>
              <a:t>matches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global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volatility.</a:t>
            </a:r>
            <a:endParaRPr sz="1000" dirty="0">
              <a:latin typeface="Times New Roman"/>
              <a:cs typeface="Times New Roman"/>
            </a:endParaRPr>
          </a:p>
          <a:p>
            <a:pPr marL="314325" indent="-132715">
              <a:lnSpc>
                <a:spcPct val="100000"/>
              </a:lnSpc>
              <a:spcBef>
                <a:spcPts val="455"/>
              </a:spcBef>
              <a:buClr>
                <a:srgbClr val="003874"/>
              </a:buClr>
              <a:buFont typeface="Times New Roman"/>
              <a:buChar char="•"/>
              <a:tabLst>
                <a:tab pos="314325" algn="l"/>
              </a:tabLst>
            </a:pPr>
            <a:r>
              <a:rPr sz="1000" b="1" dirty="0">
                <a:latin typeface="Cambria"/>
                <a:cs typeface="Cambria"/>
              </a:rPr>
              <a:t>Bifurcated</a:t>
            </a:r>
            <a:r>
              <a:rPr sz="1000" b="1" spc="15" dirty="0">
                <a:latin typeface="Cambria"/>
                <a:cs typeface="Cambria"/>
              </a:rPr>
              <a:t> </a:t>
            </a:r>
            <a:r>
              <a:rPr sz="1000" b="1" spc="-10" dirty="0">
                <a:latin typeface="Cambria"/>
                <a:cs typeface="Cambria"/>
              </a:rPr>
              <a:t>Strategy</a:t>
            </a:r>
            <a:r>
              <a:rPr sz="1000" spc="-10" dirty="0">
                <a:latin typeface="Times New Roman"/>
                <a:cs typeface="Times New Roman"/>
              </a:rPr>
              <a:t>:</a:t>
            </a:r>
            <a:endParaRPr sz="1000" dirty="0">
              <a:latin typeface="Times New Roman"/>
              <a:cs typeface="Times New Roman"/>
            </a:endParaRPr>
          </a:p>
          <a:p>
            <a:pPr marL="591185" lvl="1" indent="-127000">
              <a:lnSpc>
                <a:spcPct val="100000"/>
              </a:lnSpc>
              <a:spcBef>
                <a:spcPts val="295"/>
              </a:spcBef>
              <a:buClr>
                <a:srgbClr val="003874"/>
              </a:buClr>
              <a:buFont typeface="Times New Roman"/>
              <a:buChar char="•"/>
              <a:tabLst>
                <a:tab pos="591185" algn="l"/>
              </a:tabLst>
            </a:pPr>
            <a:r>
              <a:rPr sz="900" spc="30" dirty="0">
                <a:latin typeface="Times New Roman"/>
                <a:cs typeface="Times New Roman"/>
              </a:rPr>
              <a:t>For</a:t>
            </a:r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z="900" spc="50" dirty="0">
                <a:latin typeface="Times New Roman"/>
                <a:cs typeface="Times New Roman"/>
              </a:rPr>
              <a:t>High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Times New Roman"/>
                <a:cs typeface="Times New Roman"/>
              </a:rPr>
              <a:t>Volume: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Times New Roman"/>
                <a:cs typeface="Times New Roman"/>
              </a:rPr>
              <a:t>Prioritize</a:t>
            </a:r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z="900" spc="60" dirty="0">
                <a:latin typeface="Times New Roman"/>
                <a:cs typeface="Times New Roman"/>
              </a:rPr>
              <a:t>supply</a:t>
            </a:r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z="900" spc="70" dirty="0">
                <a:latin typeface="Times New Roman"/>
                <a:cs typeface="Times New Roman"/>
              </a:rPr>
              <a:t>chain</a:t>
            </a:r>
            <a:r>
              <a:rPr sz="900" spc="3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efficiency.</a:t>
            </a:r>
            <a:endParaRPr sz="900" dirty="0">
              <a:latin typeface="Times New Roman"/>
              <a:cs typeface="Times New Roman"/>
            </a:endParaRPr>
          </a:p>
          <a:p>
            <a:pPr marL="591185" lvl="1" indent="-127000">
              <a:lnSpc>
                <a:spcPct val="100000"/>
              </a:lnSpc>
              <a:spcBef>
                <a:spcPts val="114"/>
              </a:spcBef>
              <a:buClr>
                <a:srgbClr val="003874"/>
              </a:buClr>
              <a:buFont typeface="Times New Roman"/>
              <a:buChar char="•"/>
              <a:tabLst>
                <a:tab pos="591185" algn="l"/>
              </a:tabLst>
            </a:pPr>
            <a:r>
              <a:rPr sz="900" spc="30" dirty="0">
                <a:latin typeface="Times New Roman"/>
                <a:cs typeface="Times New Roman"/>
              </a:rPr>
              <a:t>For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spc="50" dirty="0">
                <a:latin typeface="Times New Roman"/>
                <a:cs typeface="Times New Roman"/>
              </a:rPr>
              <a:t>High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Times New Roman"/>
                <a:cs typeface="Times New Roman"/>
              </a:rPr>
              <a:t>Intensity: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Times New Roman"/>
                <a:cs typeface="Times New Roman"/>
              </a:rPr>
              <a:t>Prioritize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spc="80" dirty="0">
                <a:latin typeface="Times New Roman"/>
                <a:cs typeface="Times New Roman"/>
              </a:rPr>
              <a:t>humanitarian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spc="55" dirty="0">
                <a:latin typeface="Times New Roman"/>
                <a:cs typeface="Times New Roman"/>
              </a:rPr>
              <a:t>access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spc="95" dirty="0">
                <a:latin typeface="Times New Roman"/>
                <a:cs typeface="Times New Roman"/>
              </a:rPr>
              <a:t>and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spc="50" dirty="0">
                <a:latin typeface="Times New Roman"/>
                <a:cs typeface="Times New Roman"/>
              </a:rPr>
              <a:t>protection.</a:t>
            </a:r>
            <a:endParaRPr sz="900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131464"/>
            <a:ext cx="5760085" cy="108585"/>
            <a:chOff x="0" y="3131464"/>
            <a:chExt cx="5760085" cy="108585"/>
          </a:xfrm>
        </p:grpSpPr>
        <p:sp>
          <p:nvSpPr>
            <p:cNvPr id="6" name="object 6"/>
            <p:cNvSpPr/>
            <p:nvPr/>
          </p:nvSpPr>
          <p:spPr>
            <a:xfrm>
              <a:off x="0" y="3131464"/>
              <a:ext cx="1728470" cy="108585"/>
            </a:xfrm>
            <a:custGeom>
              <a:avLst/>
              <a:gdLst/>
              <a:ahLst/>
              <a:cxnLst/>
              <a:rect l="l" t="t" r="r" b="b"/>
              <a:pathLst>
                <a:path w="1728470" h="108585">
                  <a:moveTo>
                    <a:pt x="1728012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1728012" y="10855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003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28012" y="3131464"/>
              <a:ext cx="2304415" cy="108585"/>
            </a:xfrm>
            <a:custGeom>
              <a:avLst/>
              <a:gdLst/>
              <a:ahLst/>
              <a:cxnLst/>
              <a:rect l="l" t="t" r="r" b="b"/>
              <a:pathLst>
                <a:path w="2304415" h="108585">
                  <a:moveTo>
                    <a:pt x="2303970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2303970" y="108559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31983" y="3131464"/>
              <a:ext cx="1728470" cy="108585"/>
            </a:xfrm>
            <a:custGeom>
              <a:avLst/>
              <a:gdLst/>
              <a:ahLst/>
              <a:cxnLst/>
              <a:rect l="l" t="t" r="r" b="b"/>
              <a:pathLst>
                <a:path w="1728470" h="108585">
                  <a:moveTo>
                    <a:pt x="1728012" y="0"/>
                  </a:moveTo>
                  <a:lnTo>
                    <a:pt x="0" y="0"/>
                  </a:lnTo>
                  <a:lnTo>
                    <a:pt x="0" y="108559"/>
                  </a:lnTo>
                  <a:lnTo>
                    <a:pt x="1728012" y="10855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003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10" dirty="0"/>
              <a:t>Group</a:t>
            </a:r>
            <a:r>
              <a:rPr spc="105" dirty="0"/>
              <a:t> </a:t>
            </a:r>
            <a:r>
              <a:rPr spc="-25" dirty="0"/>
              <a:t>B11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120900" y="3131465"/>
            <a:ext cx="1307211" cy="89768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z="550" spc="20" dirty="0">
                <a:solidFill>
                  <a:srgbClr val="003874"/>
                </a:solidFill>
                <a:latin typeface="Times New Roman"/>
                <a:cs typeface="Times New Roman"/>
              </a:rPr>
              <a:t>Global Analysis of Acute Food Insecurity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8</a:t>
            </a:fld>
            <a:r>
              <a:rPr spc="-10" dirty="0"/>
              <a:t> </a:t>
            </a:r>
            <a:r>
              <a:rPr spc="100" dirty="0"/>
              <a:t>/</a:t>
            </a:r>
            <a:r>
              <a:rPr spc="-5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387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683</Words>
  <Application>Microsoft Office PowerPoint</Application>
  <PresentationFormat>Custom</PresentationFormat>
  <Paragraphs>101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Cambria</vt:lpstr>
      <vt:lpstr>Times New Roman</vt:lpstr>
      <vt:lpstr>Office Theme</vt:lpstr>
      <vt:lpstr>PowerPoint Presentation</vt:lpstr>
      <vt:lpstr>Problem Statement &amp; Data Source</vt:lpstr>
      <vt:lpstr>Global Insecurity is Volatile, Not Linear</vt:lpstr>
      <vt:lpstr>Scale vs. Severity: Two Faces of Hunger</vt:lpstr>
      <vt:lpstr>Regional Analysis: A Tale of Two Regions</vt:lpstr>
      <vt:lpstr>The Fastest Deterioration</vt:lpstr>
      <vt:lpstr>Signs of Resilience: Learning from Recovery</vt:lpstr>
      <vt:lpstr>Conclusion &amp;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Acute Food Insecurity - A Time Series Analysis of IPC Data</dc:title>
  <dc:creator>Group B11Programming for Data Scientists</dc:creator>
  <cp:lastModifiedBy>Richard Gidi</cp:lastModifiedBy>
  <cp:revision>1</cp:revision>
  <dcterms:created xsi:type="dcterms:W3CDTF">2026-02-01T06:36:44Z</dcterms:created>
  <dcterms:modified xsi:type="dcterms:W3CDTF">2026-02-01T06:50:21Z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2026-02-01T00:00:00Z</vt:filetime>
  </property>
  <property fmtid="{D5CDD505-2E9C-101B-9397-08002B2CF9AE}" pid="3" name="Creator">
    <vt:lpwstr>LaTeX with Beamer class</vt:lpwstr>
  </property>
  <property fmtid="{D5CDD505-2E9C-101B-9397-08002B2CF9AE}" pid="4" name="Producer">
    <vt:lpwstr>xdvipdfmx (20240305)</vt:lpwstr>
  </property>
  <property fmtid="{D5CDD505-2E9C-101B-9397-08002B2CF9AE}" pid="5" name="LastSaved">
    <vt:filetime>2026-02-01T00:00:00Z</vt:filetime>
  </property>
</Properties>
</file>